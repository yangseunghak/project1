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확산 속도</c:v>
                </c:pt>
              </c:strCache>
            </c:strRef>
          </c:tx>
          <c:spPr>
            <a:solidFill>
              <a:srgbClr val="7FA4FF"/>
            </a:solidFill>
            <a:ln w="0"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FFD84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C505-4E2D-9599-4492E91D48F2}"/>
              </c:ext>
            </c:extLst>
          </c:dPt>
          <c:dLbls>
            <c:dLbl>
              <c:idx val="4"/>
              <c:spPr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C505-4E2D-9599-4492E91D48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0H</c:v>
                </c:pt>
                <c:pt idx="1">
                  <c:v>12H</c:v>
                </c:pt>
                <c:pt idx="2">
                  <c:v>24H</c:v>
                </c:pt>
                <c:pt idx="3">
                  <c:v>48H</c:v>
                </c:pt>
                <c:pt idx="4">
                  <c:v>72H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63</c:v>
                </c:pt>
                <c:pt idx="3">
                  <c:v>34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05-4E2D-9599-4492E91D4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63807068"/>
        <c:axId val="79825646"/>
      </c:barChart>
      <c:catAx>
        <c:axId val="638070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263248"/>
            </a:solidFill>
            <a:round/>
          </a:ln>
        </c:spPr>
        <c:txPr>
          <a:bodyPr/>
          <a:lstStyle/>
          <a:p>
            <a:pPr>
              <a:defRPr sz="825" b="0" u="none" strike="noStrike">
                <a:solidFill>
                  <a:srgbClr val="AAB5C8"/>
                </a:solidFill>
                <a:uFillTx/>
                <a:latin typeface="Calibri"/>
                <a:ea typeface="Calibri"/>
              </a:defRPr>
            </a:pPr>
            <a:endParaRPr lang="ko-KR"/>
          </a:p>
        </c:txPr>
        <c:crossAx val="79825646"/>
        <c:crosses val="autoZero"/>
        <c:auto val="1"/>
        <c:lblAlgn val="ctr"/>
        <c:lblOffset val="100"/>
        <c:noMultiLvlLbl val="0"/>
      </c:catAx>
      <c:valAx>
        <c:axId val="7982564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807068"/>
        <c:crosses val="autoZero"/>
        <c:crossBetween val="between"/>
      </c:valAx>
      <c:spPr>
        <a:solidFill>
          <a:srgbClr val="0D1423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D1423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B179AF-57D7-43D6-B07E-9894D97B6D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/workspace/scratch/457edca67c3d/library-assets/frames/rope.png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2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/workspace/scratch/457edca67c3d/coads-section-images-v2/tmp/fly-trim.png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3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/workspace/scratch/457edca67c3d/coads-section-images-v2/tmp/fly-trim.png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Founding year 2019 supplied by the user and shown on the COADS homepage.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3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/workspace/scratch/457edca67c3d/coads-section-images-v2/tmp/fly-trim.png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3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/workspace/scratch/457edca67c3d/library-assets/frames/rope.png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4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COADS mascot asset: /workspace/scratch/457edca67c3d/coads-section-images-v2/tmp/fly-trim.png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679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95360" y="361800"/>
            <a:ext cx="2857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048600" y="39996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COMPANY PROFILE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95360" y="1790640"/>
            <a:ext cx="571464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43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밤보다 먼저</a:t>
            </a:r>
            <a:r>
              <a:rPr lang="en-US" sz="43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43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43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위험을 읽습니다</a:t>
            </a:r>
            <a:r>
              <a:rPr lang="en-US" sz="43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43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14440" y="3571920"/>
            <a:ext cx="561924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확산 전 신호를 포착하고</a:t>
            </a:r>
            <a:r>
              <a:rPr lang="en-US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사실과 맥락을 구분하며</a:t>
            </a:r>
            <a:r>
              <a:rPr lang="en-US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움직일 수 있는 대응 기준을 설계하는 평판 인텔리전스 파트너</a:t>
            </a:r>
            <a:r>
              <a:rPr lang="en-US" sz="1500" b="0" u="none" strike="noStrike" dirty="0">
                <a:solidFill>
                  <a:srgbClr val="AEB8CA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8020080" y="2000160"/>
            <a:ext cx="3047760" cy="304776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420040" y="2400480"/>
            <a:ext cx="2247480" cy="2247480"/>
          </a:xfrm>
          <a:prstGeom prst="ellipse">
            <a:avLst/>
          </a:prstGeom>
          <a:solidFill>
            <a:srgbClr val="F6F4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직선 연결선 20"/>
          <p:cNvSpPr/>
          <p:nvPr/>
        </p:nvSpPr>
        <p:spPr>
          <a:xfrm>
            <a:off x="10382040" y="0"/>
            <a:ext cx="360" cy="3047760"/>
          </a:xfrm>
          <a:prstGeom prst="line">
            <a:avLst/>
          </a:prstGeom>
          <a:ln w="28575">
            <a:solidFill>
              <a:srgbClr val="FFD8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그림 21"/>
          <p:cNvPicPr/>
          <p:nvPr/>
        </p:nvPicPr>
        <p:blipFill>
          <a:blip r:embed="rId3"/>
          <a:stretch/>
        </p:blipFill>
        <p:spPr>
          <a:xfrm>
            <a:off x="7810560" y="2095560"/>
            <a:ext cx="285732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직사각형 22"/>
          <p:cNvSpPr/>
          <p:nvPr/>
        </p:nvSpPr>
        <p:spPr>
          <a:xfrm>
            <a:off x="495360" y="6305400"/>
            <a:ext cx="61909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3809A"/>
                </a:solidFill>
                <a:effectLst/>
                <a:uFillTx/>
                <a:latin typeface="맑은 고딕"/>
                <a:ea typeface="맑은 고딕"/>
              </a:rPr>
              <a:t>ONLINE REPUTATION INTELLIGENCE &amp; RESPONSE PARTNER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572680" y="6305400"/>
            <a:ext cx="314280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3809A"/>
                </a:solidFill>
                <a:effectLst/>
                <a:uFillTx/>
                <a:latin typeface="맑은 고딕"/>
                <a:ea typeface="맑은 고딕"/>
              </a:rPr>
              <a:t>coads-homepage.vercel.app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타원 24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TABLE OF CONTENTS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lide-2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순서 및 세부 내용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직선 연결선 29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02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19200" y="154296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01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57320" y="152388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INTRODUCTION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00240" y="154296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회사소개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직선 연결선 35"/>
          <p:cNvSpPr/>
          <p:nvPr/>
        </p:nvSpPr>
        <p:spPr>
          <a:xfrm>
            <a:off x="618840" y="185724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19200" y="224784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057320" y="222876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THE ORIGIN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000240" y="224784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탄생 배경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직선 연결선 39"/>
          <p:cNvSpPr/>
          <p:nvPr/>
        </p:nvSpPr>
        <p:spPr>
          <a:xfrm>
            <a:off x="618840" y="256212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19200" y="295272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03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057320" y="293364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BRAND 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000240" y="295272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캐릭터와 브랜드 시스템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직선 연결선 43"/>
          <p:cNvSpPr/>
          <p:nvPr/>
        </p:nvSpPr>
        <p:spPr>
          <a:xfrm>
            <a:off x="618840" y="326700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19200" y="365760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04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57320" y="363852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VISION &amp; VALUES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000240" y="365760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비전</a:t>
            </a: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미션</a:t>
            </a: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핵심가치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직선 연결선 47"/>
          <p:cNvSpPr/>
          <p:nvPr/>
        </p:nvSpPr>
        <p:spPr>
          <a:xfrm>
            <a:off x="618840" y="397188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19200" y="436248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05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57320" y="434340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LANDSCAPE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000240" y="436248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온라인 평판 위험 구조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직선 연결선 51"/>
          <p:cNvSpPr/>
          <p:nvPr/>
        </p:nvSpPr>
        <p:spPr>
          <a:xfrm>
            <a:off x="618840" y="467676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19200" y="506736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06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057320" y="504828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OUR ROLE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000240" y="506736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의 역할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직선 연결선 55"/>
          <p:cNvSpPr/>
          <p:nvPr/>
        </p:nvSpPr>
        <p:spPr>
          <a:xfrm>
            <a:off x="618840" y="538128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334200" y="154296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07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772320" y="152388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SIGNAL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715240" y="154296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위험 신호 탐지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직선 연결선 59"/>
          <p:cNvSpPr/>
          <p:nvPr/>
        </p:nvSpPr>
        <p:spPr>
          <a:xfrm>
            <a:off x="6333840" y="185724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334200" y="224784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08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6772320" y="222876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CONTEXT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715240" y="224784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사실</a:t>
            </a: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추측</a:t>
            </a: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공격 분석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직선 연결선 63"/>
          <p:cNvSpPr/>
          <p:nvPr/>
        </p:nvSpPr>
        <p:spPr>
          <a:xfrm>
            <a:off x="6333840" y="256212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334200" y="295272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09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772320" y="293364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RESPONSE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8715240" y="295272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대응 구조 설계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직선 연결선 67"/>
          <p:cNvSpPr/>
          <p:nvPr/>
        </p:nvSpPr>
        <p:spPr>
          <a:xfrm>
            <a:off x="6333840" y="326700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334200" y="365760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10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772320" y="363852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WORKFLOW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8715240" y="365760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프로젝트 진행 방식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직선 연결선 71"/>
          <p:cNvSpPr/>
          <p:nvPr/>
        </p:nvSpPr>
        <p:spPr>
          <a:xfrm>
            <a:off x="6333840" y="397188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334200" y="436248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11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772320" y="434340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IMPACT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8715240" y="436248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가상 성과 및 사례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직선 연결선 75"/>
          <p:cNvSpPr/>
          <p:nvPr/>
        </p:nvSpPr>
        <p:spPr>
          <a:xfrm>
            <a:off x="6333840" y="467676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334200" y="5067360"/>
            <a:ext cx="342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772320" y="504828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PARTNERSHIP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8715240" y="5067360"/>
            <a:ext cx="23810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FAQ</a:t>
            </a:r>
            <a:r>
              <a:rPr lang="zh-CN" sz="1050" b="0" u="none" strike="noStrike">
                <a:solidFill>
                  <a:srgbClr val="A6B0C2"/>
                </a:solidFill>
                <a:effectLst/>
                <a:uFillTx/>
                <a:latin typeface="맑은 고딕"/>
                <a:ea typeface="맑은 고딕"/>
              </a:rPr>
              <a:t>와 협업 안내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직선 연결선 79"/>
          <p:cNvSpPr/>
          <p:nvPr/>
        </p:nvSpPr>
        <p:spPr>
          <a:xfrm>
            <a:off x="6333840" y="5381280"/>
            <a:ext cx="495324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그림 80"/>
          <p:cNvPicPr/>
          <p:nvPr/>
        </p:nvPicPr>
        <p:blipFill>
          <a:blip r:embed="rId3"/>
          <a:stretch/>
        </p:blipFill>
        <p:spPr>
          <a:xfrm>
            <a:off x="10310400" y="5619600"/>
            <a:ext cx="1000800" cy="104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타원 81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INTRODUCTION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lide-3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회사소개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직선 연결선 85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03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ompany-profile"/>
          <p:cNvSpPr/>
          <p:nvPr/>
        </p:nvSpPr>
        <p:spPr>
          <a:xfrm>
            <a:off x="495360" y="1571760"/>
            <a:ext cx="3428640" cy="43336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743040" y="188604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COMPANY PROFILE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43040" y="2381400"/>
            <a:ext cx="2476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기업명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743040" y="2657520"/>
            <a:ext cx="2999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직선 연결선 92"/>
          <p:cNvSpPr/>
          <p:nvPr/>
        </p:nvSpPr>
        <p:spPr>
          <a:xfrm>
            <a:off x="742680" y="2952720"/>
            <a:ext cx="266724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43040" y="3067200"/>
            <a:ext cx="2476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설립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43040" y="3343320"/>
            <a:ext cx="2999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2019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직선 연결선 95"/>
          <p:cNvSpPr/>
          <p:nvPr/>
        </p:nvSpPr>
        <p:spPr>
          <a:xfrm>
            <a:off x="742680" y="3638520"/>
            <a:ext cx="266724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743040" y="3753000"/>
            <a:ext cx="2476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업종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743040" y="4029120"/>
            <a:ext cx="2999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온라인 평판 인텔리전스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직선 연결선 98"/>
          <p:cNvSpPr/>
          <p:nvPr/>
        </p:nvSpPr>
        <p:spPr>
          <a:xfrm>
            <a:off x="742680" y="4324320"/>
            <a:ext cx="266724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743040" y="4438800"/>
            <a:ext cx="2476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운영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743040" y="4714920"/>
            <a:ext cx="2999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프로젝트 </a:t>
            </a:r>
            <a:r>
              <a:rPr lang="en-US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리테이너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직선 연결선 101"/>
          <p:cNvSpPr/>
          <p:nvPr/>
        </p:nvSpPr>
        <p:spPr>
          <a:xfrm>
            <a:off x="742680" y="5010120"/>
            <a:ext cx="266724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43040" y="5124600"/>
            <a:ext cx="2476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웹사이트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743040" y="5400720"/>
            <a:ext cx="2999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coads-homepage.vercel.app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직선 연결선 104"/>
          <p:cNvSpPr/>
          <p:nvPr/>
        </p:nvSpPr>
        <p:spPr>
          <a:xfrm>
            <a:off x="742680" y="5695920"/>
            <a:ext cx="266724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524480" y="1733400"/>
            <a:ext cx="6571800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이슈를 더 크게 만드는 회사는 많습니다</a:t>
            </a:r>
            <a:r>
              <a:rPr lang="en-US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위험을 먼저 읽고 대응 구조까지 설계하는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전문 파트너는 드뭅니다</a:t>
            </a:r>
            <a:r>
              <a:rPr lang="en-US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524480" y="3524400"/>
            <a:ext cx="628632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는 게시물을 지우는 단기 작업보다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위험의 출발점과 확산 경로를 이해하는 데서 시작합니다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같은 이슈라도 커뮤니티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검색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언론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SNS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에서 전혀 다르게 움직이기 때문입니다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524480" y="4524480"/>
            <a:ext cx="62863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우리는 신호를 포착하고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(SIGNAL),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맥락을 분석하며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(CONTEXT),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고객이 실제로 움직일 수 있는 대응 우선순위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(RESPONSE)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를 제시합니다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사각형: 둥근 모서리 108"/>
          <p:cNvSpPr/>
          <p:nvPr/>
        </p:nvSpPr>
        <p:spPr>
          <a:xfrm>
            <a:off x="4524480" y="5410080"/>
            <a:ext cx="6095520" cy="552240"/>
          </a:xfrm>
          <a:prstGeom prst="roundRect">
            <a:avLst>
              <a:gd name="adj" fmla="val 20690"/>
            </a:avLst>
          </a:prstGeom>
          <a:solidFill>
            <a:srgbClr val="E7EE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4762440" y="5543640"/>
            <a:ext cx="10472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핵심 정의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5829480" y="5514840"/>
            <a:ext cx="452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Online Reputation Intelligence &amp; Response Partner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그림 111"/>
          <p:cNvPicPr/>
          <p:nvPr/>
        </p:nvPicPr>
        <p:blipFill>
          <a:blip r:embed="rId3"/>
          <a:stretch/>
        </p:blipFill>
        <p:spPr>
          <a:xfrm>
            <a:off x="10388520" y="533520"/>
            <a:ext cx="1091880" cy="1142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타원 112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타원 113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THE ORIGIN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lide-4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탄생 배경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직선 연결선 117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04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5360" y="1571760"/>
            <a:ext cx="781020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마케팅은 관심을 만듭니다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는 그 관심이 위험으로 바뀌는 순간을 봅니다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514440" y="2762280"/>
            <a:ext cx="7095600" cy="74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브랜드와 개인은 온라인에서 누구나 말할 수 있는 환경에 놓여 있습니다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문제는 노출 자체가 아니라 확인되지 않은 이야기가 검색 결과와 여론의 기준으로 굳어지는 과정입니다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사각형: 둥근 모서리 122"/>
          <p:cNvSpPr/>
          <p:nvPr/>
        </p:nvSpPr>
        <p:spPr>
          <a:xfrm>
            <a:off x="495360" y="3790800"/>
            <a:ext cx="7143480" cy="552240"/>
          </a:xfrm>
          <a:prstGeom prst="roundRect">
            <a:avLst>
              <a:gd name="adj" fmla="val 1724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85800" y="39625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219320" y="3914640"/>
            <a:ext cx="190476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발견의 공백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333600" y="393372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이슈가 커진 뒤에야 상황을 인지합니다</a:t>
            </a:r>
            <a:r>
              <a:rPr lang="en-US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사각형: 둥근 모서리 126"/>
          <p:cNvSpPr/>
          <p:nvPr/>
        </p:nvSpPr>
        <p:spPr>
          <a:xfrm>
            <a:off x="495360" y="4495680"/>
            <a:ext cx="7143480" cy="552240"/>
          </a:xfrm>
          <a:prstGeom prst="roundRect">
            <a:avLst>
              <a:gd name="adj" fmla="val 1724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85800" y="466740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219320" y="4619520"/>
            <a:ext cx="190476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맥락의 공백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3333600" y="463860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사실</a:t>
            </a:r>
            <a:r>
              <a:rPr lang="en-US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추측</a:t>
            </a:r>
            <a:r>
              <a:rPr lang="en-US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공격이 하나의 여론처럼 섞입니다</a:t>
            </a:r>
            <a:r>
              <a:rPr lang="en-US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사각형: 둥근 모서리 130"/>
          <p:cNvSpPr/>
          <p:nvPr/>
        </p:nvSpPr>
        <p:spPr>
          <a:xfrm>
            <a:off x="495360" y="5200560"/>
            <a:ext cx="7143480" cy="552240"/>
          </a:xfrm>
          <a:prstGeom prst="roundRect">
            <a:avLst>
              <a:gd name="adj" fmla="val 1724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685800" y="537228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1219320" y="5324400"/>
            <a:ext cx="190476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실행의 공백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3333600" y="534348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무엇부터 대응해야 하는지 결정하지 못합니다</a:t>
            </a:r>
            <a:r>
              <a:rPr lang="en-US" sz="1200" b="0" u="none" strike="noStrike">
                <a:solidFill>
                  <a:srgbClr val="A5B0C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타원 134"/>
          <p:cNvSpPr/>
          <p:nvPr/>
        </p:nvSpPr>
        <p:spPr>
          <a:xfrm>
            <a:off x="9258480" y="3181320"/>
            <a:ext cx="1066320" cy="10663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9429840" y="3352680"/>
            <a:ext cx="723600" cy="72360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타원 136"/>
          <p:cNvSpPr/>
          <p:nvPr/>
        </p:nvSpPr>
        <p:spPr>
          <a:xfrm>
            <a:off x="9601200" y="3524400"/>
            <a:ext cx="380520" cy="3805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10058400" y="3333600"/>
            <a:ext cx="151920" cy="15192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직선 연결선 138"/>
          <p:cNvSpPr/>
          <p:nvPr/>
        </p:nvSpPr>
        <p:spPr>
          <a:xfrm flipV="1">
            <a:off x="9791640" y="3390840"/>
            <a:ext cx="352440" cy="32364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8591400" y="4952880"/>
            <a:ext cx="285732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는 세 가지 공백을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하나의 대응 기준으로 연결합니다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그림 140"/>
          <p:cNvPicPr/>
          <p:nvPr/>
        </p:nvPicPr>
        <p:blipFill>
          <a:blip r:embed="rId3"/>
          <a:stretch/>
        </p:blipFill>
        <p:spPr>
          <a:xfrm>
            <a:off x="9833040" y="5429160"/>
            <a:ext cx="955440" cy="999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타원 141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BRAND STORY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lide-5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캐릭터와 브랜드 콘셉트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직선 연결선 145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05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사각형: 둥근 모서리 148"/>
          <p:cNvSpPr/>
          <p:nvPr/>
        </p:nvSpPr>
        <p:spPr>
          <a:xfrm>
            <a:off x="495360" y="1504800"/>
            <a:ext cx="5333760" cy="4524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사각형: 둥근 모서리 149"/>
          <p:cNvSpPr/>
          <p:nvPr/>
        </p:nvSpPr>
        <p:spPr>
          <a:xfrm>
            <a:off x="743040" y="1857240"/>
            <a:ext cx="1238040" cy="285480"/>
          </a:xfrm>
          <a:prstGeom prst="roundRect">
            <a:avLst>
              <a:gd name="adj" fmla="val 50000"/>
            </a:avLst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743040" y="1924200"/>
            <a:ext cx="12380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COADS OWL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타원 151"/>
          <p:cNvSpPr/>
          <p:nvPr/>
        </p:nvSpPr>
        <p:spPr>
          <a:xfrm>
            <a:off x="1352520" y="2333520"/>
            <a:ext cx="3238200" cy="323820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타원 152"/>
          <p:cNvSpPr/>
          <p:nvPr/>
        </p:nvSpPr>
        <p:spPr>
          <a:xfrm>
            <a:off x="1809720" y="2790720"/>
            <a:ext cx="2323800" cy="2323800"/>
          </a:xfrm>
          <a:prstGeom prst="ellipse">
            <a:avLst/>
          </a:prstGeom>
          <a:solidFill>
            <a:srgbClr val="F6F4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직선 연결선 153"/>
          <p:cNvSpPr/>
          <p:nvPr/>
        </p:nvSpPr>
        <p:spPr>
          <a:xfrm>
            <a:off x="5829120" y="-55419"/>
            <a:ext cx="360" cy="2476440"/>
          </a:xfrm>
          <a:prstGeom prst="line">
            <a:avLst/>
          </a:prstGeom>
          <a:ln w="28575">
            <a:solidFill>
              <a:srgbClr val="FFD8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그림 154"/>
          <p:cNvPicPr/>
          <p:nvPr/>
        </p:nvPicPr>
        <p:blipFill>
          <a:blip r:embed="rId3"/>
          <a:stretch/>
        </p:blipFill>
        <p:spPr>
          <a:xfrm>
            <a:off x="1523880" y="2714760"/>
            <a:ext cx="2714400" cy="27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직사각형 155"/>
          <p:cNvSpPr/>
          <p:nvPr/>
        </p:nvSpPr>
        <p:spPr>
          <a:xfrm>
            <a:off x="743040" y="5238720"/>
            <a:ext cx="4476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80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밤에 가장 선명해지는 관찰자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743040" y="5619600"/>
            <a:ext cx="4476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부엉이는 어둠 속에서도 작은 움직임을 먼저 발견합니다</a:t>
            </a:r>
            <a:r>
              <a:rPr lang="en-US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COADS</a:t>
            </a:r>
            <a:r>
              <a:rPr lang="zh-CN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의 마스코트는 위험을 공포로 키우지 않고</a:t>
            </a:r>
            <a:r>
              <a:rPr lang="en-US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밝은 화면으로 전환하는 안내자입니다</a:t>
            </a:r>
            <a:r>
              <a:rPr lang="en-US" sz="1130" b="0" u="none" strike="noStrike" dirty="0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6381720" y="1762200"/>
            <a:ext cx="1904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THE ROPE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6381720" y="2209680"/>
            <a:ext cx="4762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2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밤에서 낮으로 전환하는 장치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6381720" y="2905200"/>
            <a:ext cx="47620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밧줄은 이슈를 끌어올리는 장치가 아니라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혼란으로 가려진 사실과 기준을 화면 위로 드러내는 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의 인터랙션 언어입니다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직선 연결선 160"/>
          <p:cNvSpPr/>
          <p:nvPr/>
        </p:nvSpPr>
        <p:spPr>
          <a:xfrm>
            <a:off x="6381720" y="4095720"/>
            <a:ext cx="44766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6381720" y="4381560"/>
            <a:ext cx="12380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WATCH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6381720" y="4667400"/>
            <a:ext cx="44762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작은 신호를 놓치지 않는 시선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6381720" y="5191200"/>
            <a:ext cx="12380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REVEAL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6381720" y="547704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확인된 사실을 밝은 화면에 드러내는 태도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타원 165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타원 166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BRAND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lide-6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브랜드 컬러와 타이포그래피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직선 연결선 169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06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사각형: 둥근 모서리 172"/>
          <p:cNvSpPr/>
          <p:nvPr/>
        </p:nvSpPr>
        <p:spPr>
          <a:xfrm>
            <a:off x="495360" y="1638360"/>
            <a:ext cx="2552400" cy="2381040"/>
          </a:xfrm>
          <a:prstGeom prst="roundRect">
            <a:avLst>
              <a:gd name="adj" fmla="val 6000"/>
            </a:avLst>
          </a:prstGeom>
          <a:solidFill>
            <a:srgbClr val="0609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704880" y="187632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NIGHT NAVY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704880" y="217188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#060912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704880" y="3257640"/>
            <a:ext cx="20952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위험을 읽는 밤</a:t>
            </a:r>
            <a:endParaRPr lang="en-US" sz="1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704880" y="3562200"/>
            <a:ext cx="20952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신뢰 </a:t>
            </a: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집중 </a:t>
            </a: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보호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사각형: 둥근 모서리 177"/>
          <p:cNvSpPr/>
          <p:nvPr/>
        </p:nvSpPr>
        <p:spPr>
          <a:xfrm>
            <a:off x="3352680" y="1638360"/>
            <a:ext cx="2552400" cy="2381040"/>
          </a:xfrm>
          <a:prstGeom prst="roundRect">
            <a:avLst>
              <a:gd name="adj" fmla="val 6000"/>
            </a:avLst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3562200" y="187632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SIGNAL BLUE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3562200" y="217188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#2D66F6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3562200" y="3257640"/>
            <a:ext cx="20952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판단을 돕는 신호</a:t>
            </a:r>
            <a:endParaRPr lang="en-US" sz="1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3562200" y="3562200"/>
            <a:ext cx="20952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명료함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속도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결정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사각형: 둥근 모서리 182"/>
          <p:cNvSpPr/>
          <p:nvPr/>
        </p:nvSpPr>
        <p:spPr>
          <a:xfrm>
            <a:off x="6210360" y="1638360"/>
            <a:ext cx="2552400" cy="2381040"/>
          </a:xfrm>
          <a:prstGeom prst="roundRect">
            <a:avLst>
              <a:gd name="adj" fmla="val 6000"/>
            </a:avLst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6419880" y="187632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DAYLIGHT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6419880" y="217188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#FFD84D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6419880" y="3257640"/>
            <a:ext cx="20952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화면을 밝히는 빛</a:t>
            </a:r>
            <a:endParaRPr lang="en-US" sz="14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6419880" y="3562200"/>
            <a:ext cx="20952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회복 </a:t>
            </a:r>
            <a:r>
              <a:rPr lang="en-US" sz="1050" b="0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전환 </a:t>
            </a:r>
            <a:r>
              <a:rPr lang="en-US" sz="1050" b="0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가능성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사각형: 둥근 모서리 187"/>
          <p:cNvSpPr/>
          <p:nvPr/>
        </p:nvSpPr>
        <p:spPr>
          <a:xfrm>
            <a:off x="9067680" y="1638360"/>
            <a:ext cx="2552400" cy="2381040"/>
          </a:xfrm>
          <a:prstGeom prst="roundRect">
            <a:avLst>
              <a:gd name="adj" fmla="val 6000"/>
            </a:avLst>
          </a:prstGeom>
          <a:solidFill>
            <a:srgbClr val="F6F4ED"/>
          </a:solidFill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9277200" y="187632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WARM WHITE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9277200" y="217188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#F6F4ED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9277200" y="3257640"/>
            <a:ext cx="20952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사람이 머무는 여백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9277200" y="3562200"/>
            <a:ext cx="20952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정돈 </a:t>
            </a:r>
            <a:r>
              <a:rPr lang="en-US" sz="1050" b="0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대화 </a:t>
            </a:r>
            <a:r>
              <a:rPr lang="en-US" sz="1050" b="0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050" b="0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균형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직선 연결선 192"/>
          <p:cNvSpPr/>
          <p:nvPr/>
        </p:nvSpPr>
        <p:spPr>
          <a:xfrm>
            <a:off x="495000" y="444816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495360" y="473400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TYPOGRAPHY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495360" y="5095800"/>
            <a:ext cx="266652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3524400" y="5200560"/>
            <a:ext cx="38095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평판을 지키는 기준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3543480" y="56674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맑은 고딕 </a:t>
            </a:r>
            <a:r>
              <a:rPr lang="en-US" sz="1050" b="0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/ Bold · Regular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7715160" y="5238720"/>
            <a:ext cx="361908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SIGNAL  CONTEXT  RESPONSE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7620120" y="5657760"/>
            <a:ext cx="37144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영문은 짧고 단단하게</a:t>
            </a:r>
            <a:r>
              <a:rPr lang="en-US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한글은 명확하고 넓게</a:t>
            </a:r>
            <a:r>
              <a:rPr lang="en-US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타원 199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타원 200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VISION · MISSION · VALUES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lide-7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비전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미션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핵심가치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직선 연결선 204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07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495360" y="1571760"/>
            <a:ext cx="838152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8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온라인</a:t>
            </a:r>
            <a:r>
              <a:rPr lang="en-US" altLang="zh-CN" sz="28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2850" b="1" dirty="0">
                <a:solidFill>
                  <a:srgbClr val="FFFFFF"/>
                </a:solidFill>
                <a:latin typeface="맑은 고딕"/>
                <a:ea typeface="맑은 고딕"/>
              </a:rPr>
              <a:t>이슈가</a:t>
            </a:r>
            <a:endParaRPr lang="en-US" sz="2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8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사람의 판단을 대신하지 않도록</a:t>
            </a:r>
            <a:r>
              <a:rPr lang="en-US" sz="28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514440" y="2743200"/>
            <a:ext cx="838152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35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는 더 많은 대응 문서를 남기기보다</a:t>
            </a:r>
            <a:r>
              <a:rPr lang="en-US" sz="135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조직과 개인이 스스로 판단할 수 있는 기준을 남깁니다</a:t>
            </a:r>
            <a:r>
              <a:rPr lang="en-US" sz="135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사각형: 둥근 모서리 209"/>
          <p:cNvSpPr/>
          <p:nvPr/>
        </p:nvSpPr>
        <p:spPr>
          <a:xfrm>
            <a:off x="495360" y="3714840"/>
            <a:ext cx="3428640" cy="2142720"/>
          </a:xfrm>
          <a:prstGeom prst="roundRect">
            <a:avLst>
              <a:gd name="adj" fmla="val 666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723960" y="39816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VISION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723960" y="4429080"/>
            <a:ext cx="29714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명료한 판단이 가능한 온라인 환경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723960" y="519120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소문보다 사실</a:t>
            </a:r>
            <a:r>
              <a:rPr lang="en-US" sz="1200" b="0" u="none" strike="noStrike" dirty="0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 dirty="0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속도보다 방향이 먼저 보이는 환경을 만듭니다</a:t>
            </a:r>
            <a:r>
              <a:rPr lang="en-US" sz="1200" b="0" u="none" strike="noStrike" dirty="0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사각형: 둥근 모서리 213"/>
          <p:cNvSpPr/>
          <p:nvPr/>
        </p:nvSpPr>
        <p:spPr>
          <a:xfrm>
            <a:off x="4267080" y="3714840"/>
            <a:ext cx="3428640" cy="2142720"/>
          </a:xfrm>
          <a:prstGeom prst="roundRect">
            <a:avLst>
              <a:gd name="adj" fmla="val 666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4495680" y="39816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MISSION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495680" y="4429080"/>
            <a:ext cx="29714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확산 전 위험을 읽고 대응 기준을 설계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4495680" y="519120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신호</a:t>
            </a:r>
            <a:r>
              <a:rPr lang="en-US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맥락</a:t>
            </a:r>
            <a:r>
              <a:rPr lang="en-US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우선순위를 연결해 실제 행동으로 전환합니다</a:t>
            </a:r>
            <a:r>
              <a:rPr lang="en-US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사각형: 둥근 모서리 217"/>
          <p:cNvSpPr/>
          <p:nvPr/>
        </p:nvSpPr>
        <p:spPr>
          <a:xfrm>
            <a:off x="8039160" y="3714840"/>
            <a:ext cx="3428640" cy="2142720"/>
          </a:xfrm>
          <a:prstGeom prst="roundRect">
            <a:avLst>
              <a:gd name="adj" fmla="val 666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8267760" y="39816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VALUES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8267760" y="4429080"/>
            <a:ext cx="29714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명료함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정직함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책임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8267760" y="519120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모르는 것은 모른다고 말하고</a:t>
            </a:r>
            <a:r>
              <a:rPr lang="en-US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불편한 사실을 먼저 공유합니다</a:t>
            </a:r>
            <a:r>
              <a:rPr lang="en-US" sz="1200" b="0" u="none" strike="noStrike">
                <a:solidFill>
                  <a:srgbClr val="9CA8B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타원 221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타원 222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REPUTATION LANDSCAPE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lide-8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온라인 평판 위험의 이동 구조</a:t>
            </a:r>
            <a:endParaRPr lang="en-US" sz="3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직선 연결선 225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08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495360" y="1571760"/>
            <a:ext cx="80960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같은 이슈도 채널마다 다른 속도로 움직입니다</a:t>
            </a:r>
            <a:r>
              <a:rPr lang="en-US" sz="25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514440" y="2143080"/>
            <a:ext cx="8286480" cy="64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커뮤니티의 감정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SNS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의 반복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검색의 고착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언론의 공신력은 서로 다른 방식으로 연결됩니다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하나의 메시지로 모든 채널을 대응하면 오히려 위험이 커질 수 있습니다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직선 연결선 230"/>
          <p:cNvSpPr/>
          <p:nvPr/>
        </p:nvSpPr>
        <p:spPr>
          <a:xfrm flipV="1">
            <a:off x="2381040" y="3809880"/>
            <a:ext cx="1952640" cy="809640"/>
          </a:xfrm>
          <a:prstGeom prst="line">
            <a:avLst/>
          </a:prstGeom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직선 연결선 231"/>
          <p:cNvSpPr/>
          <p:nvPr/>
        </p:nvSpPr>
        <p:spPr>
          <a:xfrm>
            <a:off x="4952880" y="3809880"/>
            <a:ext cx="2000160" cy="1095480"/>
          </a:xfrm>
          <a:prstGeom prst="line">
            <a:avLst/>
          </a:prstGeom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직선 연결선 232"/>
          <p:cNvSpPr/>
          <p:nvPr/>
        </p:nvSpPr>
        <p:spPr>
          <a:xfrm flipV="1">
            <a:off x="7572240" y="3904920"/>
            <a:ext cx="2047680" cy="1000440"/>
          </a:xfrm>
          <a:prstGeom prst="line">
            <a:avLst/>
          </a:prstGeom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타원 233"/>
          <p:cNvSpPr/>
          <p:nvPr/>
        </p:nvSpPr>
        <p:spPr>
          <a:xfrm>
            <a:off x="1762200" y="4000680"/>
            <a:ext cx="1257120" cy="1257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1857240" y="4410000"/>
            <a:ext cx="1066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COMMUNITY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1857240" y="471492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감정과 추측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타원 236"/>
          <p:cNvSpPr/>
          <p:nvPr/>
        </p:nvSpPr>
        <p:spPr>
          <a:xfrm>
            <a:off x="4334040" y="3191040"/>
            <a:ext cx="1257120" cy="1257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4429080" y="3600360"/>
            <a:ext cx="1066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SNS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4429080" y="390528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반복과 확산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타원 239"/>
          <p:cNvSpPr/>
          <p:nvPr/>
        </p:nvSpPr>
        <p:spPr>
          <a:xfrm>
            <a:off x="6953400" y="4286160"/>
            <a:ext cx="1257120" cy="1257120"/>
          </a:xfrm>
          <a:prstGeom prst="ellipse">
            <a:avLst/>
          </a:prstGeom>
          <a:solidFill>
            <a:srgbClr val="FFD84D"/>
          </a:solidFill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7048440" y="4695840"/>
            <a:ext cx="1066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SEARCH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7048440" y="500076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기억과 고착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타원 242"/>
          <p:cNvSpPr/>
          <p:nvPr/>
        </p:nvSpPr>
        <p:spPr>
          <a:xfrm>
            <a:off x="9620280" y="3286080"/>
            <a:ext cx="1257120" cy="1257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9715680" y="3695760"/>
            <a:ext cx="1066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MEDIA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9715680" y="400068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공신력과 재확산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사각형: 둥근 모서리 245"/>
          <p:cNvSpPr/>
          <p:nvPr/>
        </p:nvSpPr>
        <p:spPr>
          <a:xfrm>
            <a:off x="495360" y="5638680"/>
            <a:ext cx="10667520" cy="5331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직사각형 246"/>
          <p:cNvSpPr/>
          <p:nvPr/>
        </p:nvSpPr>
        <p:spPr>
          <a:xfrm>
            <a:off x="685800" y="5810400"/>
            <a:ext cx="14284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COADS 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직사각형 247"/>
          <p:cNvSpPr/>
          <p:nvPr/>
        </p:nvSpPr>
        <p:spPr>
          <a:xfrm>
            <a:off x="2286000" y="5781600"/>
            <a:ext cx="828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이슈의 크기보다</a:t>
            </a:r>
            <a:r>
              <a:rPr lang="en-US" sz="13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어디에서 어떤 의미로 바뀌는지를 먼저 봅니다</a:t>
            </a:r>
            <a:r>
              <a:rPr lang="en-US" sz="135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타원 248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타원 249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OUR ROLE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lide-9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가 연결하는 세 가지 역할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직선 연결선 253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09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직사각형 256"/>
          <p:cNvSpPr/>
          <p:nvPr/>
        </p:nvSpPr>
        <p:spPr>
          <a:xfrm>
            <a:off x="495360" y="1571760"/>
            <a:ext cx="71434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발견에서 실행까지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하나의 판단 구조로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514440" y="2095560"/>
            <a:ext cx="590508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SIGNAL → CONTEXT → RESPONSE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사각형: 둥근 모서리 258"/>
          <p:cNvSpPr/>
          <p:nvPr/>
        </p:nvSpPr>
        <p:spPr>
          <a:xfrm>
            <a:off x="495360" y="2809800"/>
            <a:ext cx="3428640" cy="3028680"/>
          </a:xfrm>
          <a:prstGeom prst="roundRect">
            <a:avLst>
              <a:gd name="adj" fmla="val 503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723960" y="30481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타원 260"/>
          <p:cNvSpPr/>
          <p:nvPr/>
        </p:nvSpPr>
        <p:spPr>
          <a:xfrm>
            <a:off x="1676520" y="3276720"/>
            <a:ext cx="1066320" cy="10663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타원 261"/>
          <p:cNvSpPr/>
          <p:nvPr/>
        </p:nvSpPr>
        <p:spPr>
          <a:xfrm>
            <a:off x="1847880" y="3448080"/>
            <a:ext cx="723600" cy="72360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타원 262"/>
          <p:cNvSpPr/>
          <p:nvPr/>
        </p:nvSpPr>
        <p:spPr>
          <a:xfrm>
            <a:off x="2019240" y="3619440"/>
            <a:ext cx="380520" cy="3805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타원 263"/>
          <p:cNvSpPr/>
          <p:nvPr/>
        </p:nvSpPr>
        <p:spPr>
          <a:xfrm>
            <a:off x="2476440" y="3429000"/>
            <a:ext cx="151920" cy="15192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직선 연결선 264"/>
          <p:cNvSpPr/>
          <p:nvPr/>
        </p:nvSpPr>
        <p:spPr>
          <a:xfrm flipV="1">
            <a:off x="2209680" y="3485880"/>
            <a:ext cx="352440" cy="32400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723960" y="4514760"/>
            <a:ext cx="1523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SIGNAL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723960" y="4876920"/>
            <a:ext cx="29714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위험 신호를 먼저 발견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723960" y="52862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이상 언급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반복 패턴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채널 이동을 조기에 포착합니다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사각형: 둥근 모서리 268"/>
          <p:cNvSpPr/>
          <p:nvPr/>
        </p:nvSpPr>
        <p:spPr>
          <a:xfrm>
            <a:off x="4267080" y="2809800"/>
            <a:ext cx="3428640" cy="3028680"/>
          </a:xfrm>
          <a:prstGeom prst="roundRect">
            <a:avLst>
              <a:gd name="adj" fmla="val 503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4495680" y="30481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직선 연결선 270"/>
          <p:cNvSpPr/>
          <p:nvPr/>
        </p:nvSpPr>
        <p:spPr>
          <a:xfrm flipV="1">
            <a:off x="5371920" y="3352680"/>
            <a:ext cx="371520" cy="50472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직선 연결선 271"/>
          <p:cNvSpPr/>
          <p:nvPr/>
        </p:nvSpPr>
        <p:spPr>
          <a:xfrm>
            <a:off x="5743440" y="3352680"/>
            <a:ext cx="352440" cy="51444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직선 연결선 272"/>
          <p:cNvSpPr/>
          <p:nvPr/>
        </p:nvSpPr>
        <p:spPr>
          <a:xfrm flipV="1">
            <a:off x="6095880" y="3476520"/>
            <a:ext cx="476280" cy="39060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직선 연결선 273"/>
          <p:cNvSpPr/>
          <p:nvPr/>
        </p:nvSpPr>
        <p:spPr>
          <a:xfrm flipH="1">
            <a:off x="6419520" y="3476520"/>
            <a:ext cx="152640" cy="85716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타원 274"/>
          <p:cNvSpPr/>
          <p:nvPr/>
        </p:nvSpPr>
        <p:spPr>
          <a:xfrm>
            <a:off x="5324400" y="3809880"/>
            <a:ext cx="95040" cy="95040"/>
          </a:xfrm>
          <a:prstGeom prst="ellipse">
            <a:avLst/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타원 275"/>
          <p:cNvSpPr/>
          <p:nvPr/>
        </p:nvSpPr>
        <p:spPr>
          <a:xfrm>
            <a:off x="5695920" y="3305160"/>
            <a:ext cx="95040" cy="95040"/>
          </a:xfrm>
          <a:prstGeom prst="ellipse">
            <a:avLst/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타원 276"/>
          <p:cNvSpPr/>
          <p:nvPr/>
        </p:nvSpPr>
        <p:spPr>
          <a:xfrm>
            <a:off x="6029280" y="3800520"/>
            <a:ext cx="132840" cy="13284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타원 277"/>
          <p:cNvSpPr/>
          <p:nvPr/>
        </p:nvSpPr>
        <p:spPr>
          <a:xfrm>
            <a:off x="6524640" y="3429000"/>
            <a:ext cx="95040" cy="95040"/>
          </a:xfrm>
          <a:prstGeom prst="ellipse">
            <a:avLst/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타원 278"/>
          <p:cNvSpPr/>
          <p:nvPr/>
        </p:nvSpPr>
        <p:spPr>
          <a:xfrm>
            <a:off x="6372360" y="4286160"/>
            <a:ext cx="95040" cy="95040"/>
          </a:xfrm>
          <a:prstGeom prst="ellipse">
            <a:avLst/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4495680" y="4514760"/>
            <a:ext cx="1523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CONTEXT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4495680" y="4876920"/>
            <a:ext cx="29714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사실과 맥락을 구분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4495680" y="52862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사실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추측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공격을 분리하고 확산 경로를 분석합니다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사각형: 둥근 모서리 282"/>
          <p:cNvSpPr/>
          <p:nvPr/>
        </p:nvSpPr>
        <p:spPr>
          <a:xfrm>
            <a:off x="8039160" y="2809800"/>
            <a:ext cx="3428640" cy="3028680"/>
          </a:xfrm>
          <a:prstGeom prst="roundRect">
            <a:avLst>
              <a:gd name="adj" fmla="val 503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8267760" y="30481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직선 연결선 284"/>
          <p:cNvSpPr/>
          <p:nvPr/>
        </p:nvSpPr>
        <p:spPr>
          <a:xfrm>
            <a:off x="9181800" y="3809880"/>
            <a:ext cx="1143000" cy="36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직선 연결선 285"/>
          <p:cNvSpPr/>
          <p:nvPr/>
        </p:nvSpPr>
        <p:spPr>
          <a:xfrm>
            <a:off x="9753480" y="3238200"/>
            <a:ext cx="360" cy="114300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타원 286"/>
          <p:cNvSpPr/>
          <p:nvPr/>
        </p:nvSpPr>
        <p:spPr>
          <a:xfrm>
            <a:off x="9677520" y="3733920"/>
            <a:ext cx="151920" cy="151920"/>
          </a:xfrm>
          <a:prstGeom prst="ellipse">
            <a:avLst/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타원 287"/>
          <p:cNvSpPr/>
          <p:nvPr/>
        </p:nvSpPr>
        <p:spPr>
          <a:xfrm>
            <a:off x="10153800" y="3314880"/>
            <a:ext cx="171000" cy="17100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직선 연결선 288"/>
          <p:cNvSpPr/>
          <p:nvPr/>
        </p:nvSpPr>
        <p:spPr>
          <a:xfrm flipV="1">
            <a:off x="9848520" y="3352680"/>
            <a:ext cx="390600" cy="361800"/>
          </a:xfrm>
          <a:prstGeom prst="line">
            <a:avLst/>
          </a:prstGeom>
          <a:ln w="3810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8267760" y="4514760"/>
            <a:ext cx="1523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RESPONSE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8267760" y="4876920"/>
            <a:ext cx="29714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움직일 순서를 설계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8267760" y="52862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누가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언제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어디서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무엇을 말할지 우선순위를 제시합니다</a:t>
            </a:r>
            <a:r>
              <a:rPr lang="en-US" sz="1130" b="0" u="none" strike="noStrike">
                <a:solidFill>
                  <a:srgbClr val="9DA9B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타원 292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타원 293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SIGNAL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lide-10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확산 전 위험 신호 탐지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직선 연결선 296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10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95360" y="1571760"/>
            <a:ext cx="6762240" cy="93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문제가 커진 뒤의 검색보다</a:t>
            </a:r>
            <a:r>
              <a:rPr lang="en-US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커지기 전의 작은 변화를 봅니다</a:t>
            </a:r>
            <a:r>
              <a:rPr lang="en-US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514440" y="2743200"/>
            <a:ext cx="619092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언급량만 보는 모니터링을 넘어 반복되는 표현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계정 간 이동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검색어의 변화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평소와 다른 반응 속도를 함께 관찰합니다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사각형: 둥근 모서리 301"/>
          <p:cNvSpPr/>
          <p:nvPr/>
        </p:nvSpPr>
        <p:spPr>
          <a:xfrm>
            <a:off x="495360" y="3762360"/>
            <a:ext cx="5619240" cy="1999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타원 302"/>
          <p:cNvSpPr/>
          <p:nvPr/>
        </p:nvSpPr>
        <p:spPr>
          <a:xfrm>
            <a:off x="723960" y="4124160"/>
            <a:ext cx="95040" cy="950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1000080" y="407664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이상 언급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2619360" y="4095720"/>
            <a:ext cx="3047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평균 대비 갑작스러운 증가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타원 305"/>
          <p:cNvSpPr/>
          <p:nvPr/>
        </p:nvSpPr>
        <p:spPr>
          <a:xfrm>
            <a:off x="723960" y="4505400"/>
            <a:ext cx="95040" cy="950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1000080" y="445788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반복 문구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직사각형 307"/>
          <p:cNvSpPr/>
          <p:nvPr/>
        </p:nvSpPr>
        <p:spPr>
          <a:xfrm>
            <a:off x="2619360" y="4476600"/>
            <a:ext cx="3047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여러 채널에서 동일 표현 출현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타원 308"/>
          <p:cNvSpPr/>
          <p:nvPr/>
        </p:nvSpPr>
        <p:spPr>
          <a:xfrm>
            <a:off x="723960" y="4886280"/>
            <a:ext cx="95040" cy="950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1000080" y="483876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채널 이동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직사각형 310"/>
          <p:cNvSpPr/>
          <p:nvPr/>
        </p:nvSpPr>
        <p:spPr>
          <a:xfrm>
            <a:off x="2619360" y="4857840"/>
            <a:ext cx="3047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커뮤니티 → </a:t>
            </a:r>
            <a:r>
              <a:rPr lang="en-US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SNS → </a:t>
            </a:r>
            <a:r>
              <a:rPr lang="zh-CN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검색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723960" y="5267160"/>
            <a:ext cx="95040" cy="9504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직사각형 312"/>
          <p:cNvSpPr/>
          <p:nvPr/>
        </p:nvSpPr>
        <p:spPr>
          <a:xfrm>
            <a:off x="1000080" y="521964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검색 변화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2619360" y="5238720"/>
            <a:ext cx="3047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새로운 연관어의 생성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타원 314"/>
          <p:cNvSpPr/>
          <p:nvPr/>
        </p:nvSpPr>
        <p:spPr>
          <a:xfrm>
            <a:off x="7886880" y="2476440"/>
            <a:ext cx="3095280" cy="3095280"/>
          </a:xfrm>
          <a:prstGeom prst="ellipse">
            <a:avLst/>
          </a:prstGeom>
          <a:solidFill>
            <a:srgbClr val="0609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타원 315"/>
          <p:cNvSpPr/>
          <p:nvPr/>
        </p:nvSpPr>
        <p:spPr>
          <a:xfrm>
            <a:off x="8896320" y="3486240"/>
            <a:ext cx="1066320" cy="10663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타원 316"/>
          <p:cNvSpPr/>
          <p:nvPr/>
        </p:nvSpPr>
        <p:spPr>
          <a:xfrm>
            <a:off x="9067680" y="3657600"/>
            <a:ext cx="723600" cy="72360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타원 317"/>
          <p:cNvSpPr/>
          <p:nvPr/>
        </p:nvSpPr>
        <p:spPr>
          <a:xfrm>
            <a:off x="9239400" y="3828960"/>
            <a:ext cx="380520" cy="380520"/>
          </a:xfrm>
          <a:prstGeom prst="ellipse">
            <a:avLst/>
          </a:prstGeom>
          <a:noFill/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타원 318"/>
          <p:cNvSpPr/>
          <p:nvPr/>
        </p:nvSpPr>
        <p:spPr>
          <a:xfrm>
            <a:off x="9696600" y="3638520"/>
            <a:ext cx="151920" cy="15192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직선 연결선 319"/>
          <p:cNvSpPr/>
          <p:nvPr/>
        </p:nvSpPr>
        <p:spPr>
          <a:xfrm flipV="1">
            <a:off x="9429480" y="3695400"/>
            <a:ext cx="352440" cy="324000"/>
          </a:xfrm>
          <a:prstGeom prst="line">
            <a:avLst/>
          </a:prstGeom>
          <a:ln w="19050">
            <a:solidFill>
              <a:srgbClr val="7FA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사각형: 둥근 모서리 320"/>
          <p:cNvSpPr/>
          <p:nvPr/>
        </p:nvSpPr>
        <p:spPr>
          <a:xfrm>
            <a:off x="8572680" y="5477040"/>
            <a:ext cx="1714320" cy="28548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8572680" y="5543640"/>
            <a:ext cx="17143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EARLY WARNING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타원 322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타원 323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직사각형 324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직사각형 325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CONTEXT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lide-11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사실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추측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공격 패턴 분석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직선 연결선 327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직사각형 328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직사각형 329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11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직사각형 330"/>
          <p:cNvSpPr/>
          <p:nvPr/>
        </p:nvSpPr>
        <p:spPr>
          <a:xfrm>
            <a:off x="495360" y="1571760"/>
            <a:ext cx="6857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같은 문장도 출처와 의도에 따라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전혀 다른 위험이 됩니다</a:t>
            </a: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직사각형 331"/>
          <p:cNvSpPr/>
          <p:nvPr/>
        </p:nvSpPr>
        <p:spPr>
          <a:xfrm>
            <a:off x="514440" y="2733840"/>
            <a:ext cx="666720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COADS</a:t>
            </a: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는 게시물의 찬반을 판단하지 않습니다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확인 가능한 사실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불확실한 추측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반복되는 공격 패턴을 분리해 대응해야 할 대상과 지켜봐야 할 대상을 구분합니다</a:t>
            </a:r>
            <a:r>
              <a:rPr lang="en-US" sz="135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사각형: 둥근 모서리 332"/>
          <p:cNvSpPr/>
          <p:nvPr/>
        </p:nvSpPr>
        <p:spPr>
          <a:xfrm>
            <a:off x="495360" y="3828960"/>
            <a:ext cx="5428800" cy="514080"/>
          </a:xfrm>
          <a:prstGeom prst="roundRect">
            <a:avLst>
              <a:gd name="adj" fmla="val 18519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사각형: 둥근 모서리 333"/>
          <p:cNvSpPr/>
          <p:nvPr/>
        </p:nvSpPr>
        <p:spPr>
          <a:xfrm>
            <a:off x="685800" y="3943440"/>
            <a:ext cx="1190160" cy="285480"/>
          </a:xfrm>
          <a:prstGeom prst="roundRect">
            <a:avLst>
              <a:gd name="adj" fmla="val 50000"/>
            </a:avLst>
          </a:prstGeom>
          <a:solidFill>
            <a:srgbClr val="7FA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685800" y="4010040"/>
            <a:ext cx="119016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FACT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직사각형 335"/>
          <p:cNvSpPr/>
          <p:nvPr/>
        </p:nvSpPr>
        <p:spPr>
          <a:xfrm>
            <a:off x="2143080" y="3971880"/>
            <a:ext cx="3238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확인 가능한 사실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사각형: 둥근 모서리 336"/>
          <p:cNvSpPr/>
          <p:nvPr/>
        </p:nvSpPr>
        <p:spPr>
          <a:xfrm>
            <a:off x="495360" y="4495680"/>
            <a:ext cx="5428800" cy="514080"/>
          </a:xfrm>
          <a:prstGeom prst="roundRect">
            <a:avLst>
              <a:gd name="adj" fmla="val 18519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사각형: 둥근 모서리 337"/>
          <p:cNvSpPr/>
          <p:nvPr/>
        </p:nvSpPr>
        <p:spPr>
          <a:xfrm>
            <a:off x="685800" y="4610160"/>
            <a:ext cx="1190160" cy="28548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직사각형 338"/>
          <p:cNvSpPr/>
          <p:nvPr/>
        </p:nvSpPr>
        <p:spPr>
          <a:xfrm>
            <a:off x="685800" y="4676760"/>
            <a:ext cx="119016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INFERENCE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직사각형 339"/>
          <p:cNvSpPr/>
          <p:nvPr/>
        </p:nvSpPr>
        <p:spPr>
          <a:xfrm>
            <a:off x="2143080" y="4638600"/>
            <a:ext cx="3238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해석과 추측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사각형: 둥근 모서리 340"/>
          <p:cNvSpPr/>
          <p:nvPr/>
        </p:nvSpPr>
        <p:spPr>
          <a:xfrm>
            <a:off x="495360" y="5162400"/>
            <a:ext cx="5428800" cy="514080"/>
          </a:xfrm>
          <a:prstGeom prst="roundRect">
            <a:avLst>
              <a:gd name="adj" fmla="val 18519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사각형: 둥근 모서리 341"/>
          <p:cNvSpPr/>
          <p:nvPr/>
        </p:nvSpPr>
        <p:spPr>
          <a:xfrm>
            <a:off x="685800" y="5276880"/>
            <a:ext cx="1190160" cy="285480"/>
          </a:xfrm>
          <a:prstGeom prst="roundRect">
            <a:avLst>
              <a:gd name="adj" fmla="val 50000"/>
            </a:avLst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직사각형 342"/>
          <p:cNvSpPr/>
          <p:nvPr/>
        </p:nvSpPr>
        <p:spPr>
          <a:xfrm>
            <a:off x="685800" y="5343480"/>
            <a:ext cx="119016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ATTACK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직사각형 343"/>
          <p:cNvSpPr/>
          <p:nvPr/>
        </p:nvSpPr>
        <p:spPr>
          <a:xfrm>
            <a:off x="2143080" y="5305320"/>
            <a:ext cx="3238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조직적 반복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왜곡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직선 연결선 344"/>
          <p:cNvSpPr/>
          <p:nvPr/>
        </p:nvSpPr>
        <p:spPr>
          <a:xfrm flipV="1">
            <a:off x="7429320" y="2714400"/>
            <a:ext cx="809640" cy="5238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직선 연결선 345"/>
          <p:cNvSpPr/>
          <p:nvPr/>
        </p:nvSpPr>
        <p:spPr>
          <a:xfrm>
            <a:off x="7429320" y="3238200"/>
            <a:ext cx="1571760" cy="23832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직선 연결선 346"/>
          <p:cNvSpPr/>
          <p:nvPr/>
        </p:nvSpPr>
        <p:spPr>
          <a:xfrm>
            <a:off x="8238960" y="2714400"/>
            <a:ext cx="1714320" cy="14292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직선 연결선 347"/>
          <p:cNvSpPr/>
          <p:nvPr/>
        </p:nvSpPr>
        <p:spPr>
          <a:xfrm flipV="1">
            <a:off x="9001080" y="2857320"/>
            <a:ext cx="952200" cy="6192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직선 연결선 348"/>
          <p:cNvSpPr/>
          <p:nvPr/>
        </p:nvSpPr>
        <p:spPr>
          <a:xfrm>
            <a:off x="9001080" y="3476520"/>
            <a:ext cx="1571400" cy="6192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직선 연결선 349"/>
          <p:cNvSpPr/>
          <p:nvPr/>
        </p:nvSpPr>
        <p:spPr>
          <a:xfrm flipH="1">
            <a:off x="8096040" y="3476520"/>
            <a:ext cx="905040" cy="109548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직선 연결선 350"/>
          <p:cNvSpPr/>
          <p:nvPr/>
        </p:nvSpPr>
        <p:spPr>
          <a:xfrm>
            <a:off x="8096040" y="4572000"/>
            <a:ext cx="1333440" cy="38088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직선 연결선 351"/>
          <p:cNvSpPr/>
          <p:nvPr/>
        </p:nvSpPr>
        <p:spPr>
          <a:xfrm>
            <a:off x="9429480" y="4952880"/>
            <a:ext cx="1333440" cy="38088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직선 연결선 352"/>
          <p:cNvSpPr/>
          <p:nvPr/>
        </p:nvSpPr>
        <p:spPr>
          <a:xfrm flipH="1">
            <a:off x="7143480" y="4572000"/>
            <a:ext cx="952560" cy="71424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직선 연결선 353"/>
          <p:cNvSpPr/>
          <p:nvPr/>
        </p:nvSpPr>
        <p:spPr>
          <a:xfrm flipV="1">
            <a:off x="7143480" y="3238200"/>
            <a:ext cx="285840" cy="204804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타원 354"/>
          <p:cNvSpPr/>
          <p:nvPr/>
        </p:nvSpPr>
        <p:spPr>
          <a:xfrm>
            <a:off x="7353360" y="316224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타원 355"/>
          <p:cNvSpPr/>
          <p:nvPr/>
        </p:nvSpPr>
        <p:spPr>
          <a:xfrm>
            <a:off x="8163000" y="263844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타원 356"/>
          <p:cNvSpPr/>
          <p:nvPr/>
        </p:nvSpPr>
        <p:spPr>
          <a:xfrm>
            <a:off x="8924760" y="3400560"/>
            <a:ext cx="171000" cy="17100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타원 357"/>
          <p:cNvSpPr/>
          <p:nvPr/>
        </p:nvSpPr>
        <p:spPr>
          <a:xfrm>
            <a:off x="9877320" y="2781360"/>
            <a:ext cx="132840" cy="132840"/>
          </a:xfrm>
          <a:prstGeom prst="ellipse">
            <a:avLst/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타원 358"/>
          <p:cNvSpPr/>
          <p:nvPr/>
        </p:nvSpPr>
        <p:spPr>
          <a:xfrm>
            <a:off x="10496520" y="401940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타원 359"/>
          <p:cNvSpPr/>
          <p:nvPr/>
        </p:nvSpPr>
        <p:spPr>
          <a:xfrm>
            <a:off x="8020080" y="449568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타원 360"/>
          <p:cNvSpPr/>
          <p:nvPr/>
        </p:nvSpPr>
        <p:spPr>
          <a:xfrm>
            <a:off x="9353520" y="487692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타원 361"/>
          <p:cNvSpPr/>
          <p:nvPr/>
        </p:nvSpPr>
        <p:spPr>
          <a:xfrm>
            <a:off x="10686960" y="5257800"/>
            <a:ext cx="132840" cy="132840"/>
          </a:xfrm>
          <a:prstGeom prst="ellipse">
            <a:avLst/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타원 362"/>
          <p:cNvSpPr/>
          <p:nvPr/>
        </p:nvSpPr>
        <p:spPr>
          <a:xfrm>
            <a:off x="7067520" y="5210280"/>
            <a:ext cx="132840" cy="1328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7000920" y="5810400"/>
            <a:ext cx="4381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9EABBF"/>
                </a:solidFill>
                <a:effectLst/>
                <a:uFillTx/>
                <a:latin typeface="맑은 고딕"/>
                <a:ea typeface="맑은 고딕"/>
              </a:rPr>
              <a:t>출처보다 중요한 것은 메시지가 이동하며 어떻게 바뀌는가입니다</a:t>
            </a:r>
            <a:r>
              <a:rPr lang="en-US" sz="1050" b="1" u="none" strike="noStrike">
                <a:solidFill>
                  <a:srgbClr val="9EABB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타원 364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타원 365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RESPONSE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lide-12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움직일 수 있는 대응 구조 설계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직선 연결선 368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직사각형 371"/>
          <p:cNvSpPr/>
          <p:nvPr/>
        </p:nvSpPr>
        <p:spPr>
          <a:xfrm>
            <a:off x="495360" y="1571760"/>
            <a:ext cx="647676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빠른 대응보다</a:t>
            </a:r>
            <a:r>
              <a:rPr lang="en-US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정확한 순서가 결과를 바꿉니다</a:t>
            </a:r>
            <a:r>
              <a:rPr lang="en-US" sz="27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직사각형 372"/>
          <p:cNvSpPr/>
          <p:nvPr/>
        </p:nvSpPr>
        <p:spPr>
          <a:xfrm>
            <a:off x="514440" y="2733840"/>
            <a:ext cx="638136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모든 채널에 동시에 반박하지 않습니다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영향도와 긴급도를 기준으로 대응 우선순위를 정하고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고객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임직원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언론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대중에게 필요한 메시지를 분리합니다</a:t>
            </a:r>
            <a:r>
              <a:rPr lang="en-US" sz="13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직사각형 373"/>
          <p:cNvSpPr/>
          <p:nvPr/>
        </p:nvSpPr>
        <p:spPr>
          <a:xfrm>
            <a:off x="495360" y="379080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WHO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직사각형 374"/>
          <p:cNvSpPr/>
          <p:nvPr/>
        </p:nvSpPr>
        <p:spPr>
          <a:xfrm>
            <a:off x="1600200" y="377208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누가 말할 것인가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직선 연결선 375"/>
          <p:cNvSpPr/>
          <p:nvPr/>
        </p:nvSpPr>
        <p:spPr>
          <a:xfrm>
            <a:off x="495000" y="4086000"/>
            <a:ext cx="533412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직사각형 376"/>
          <p:cNvSpPr/>
          <p:nvPr/>
        </p:nvSpPr>
        <p:spPr>
          <a:xfrm>
            <a:off x="495360" y="426708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WHEN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직사각형 377"/>
          <p:cNvSpPr/>
          <p:nvPr/>
        </p:nvSpPr>
        <p:spPr>
          <a:xfrm>
            <a:off x="1600200" y="424800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언제 개입할 것인가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직선 연결선 378"/>
          <p:cNvSpPr/>
          <p:nvPr/>
        </p:nvSpPr>
        <p:spPr>
          <a:xfrm>
            <a:off x="495000" y="4562280"/>
            <a:ext cx="533412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직사각형 379"/>
          <p:cNvSpPr/>
          <p:nvPr/>
        </p:nvSpPr>
        <p:spPr>
          <a:xfrm>
            <a:off x="495360" y="474336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WHERE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직사각형 380"/>
          <p:cNvSpPr/>
          <p:nvPr/>
        </p:nvSpPr>
        <p:spPr>
          <a:xfrm>
            <a:off x="1600200" y="472428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어느 채널에서 말할 것인가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직선 연결선 381"/>
          <p:cNvSpPr/>
          <p:nvPr/>
        </p:nvSpPr>
        <p:spPr>
          <a:xfrm>
            <a:off x="495000" y="5038560"/>
            <a:ext cx="533412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직사각형 382"/>
          <p:cNvSpPr/>
          <p:nvPr/>
        </p:nvSpPr>
        <p:spPr>
          <a:xfrm>
            <a:off x="495360" y="521964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WHAT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직사각형 383"/>
          <p:cNvSpPr/>
          <p:nvPr/>
        </p:nvSpPr>
        <p:spPr>
          <a:xfrm>
            <a:off x="1600200" y="5200560"/>
            <a:ext cx="4000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어떤 사실을 먼저 제시할 것인가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직선 연결선 384"/>
          <p:cNvSpPr/>
          <p:nvPr/>
        </p:nvSpPr>
        <p:spPr>
          <a:xfrm>
            <a:off x="495000" y="5514840"/>
            <a:ext cx="533412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사각형: 둥근 모서리 385"/>
          <p:cNvSpPr/>
          <p:nvPr/>
        </p:nvSpPr>
        <p:spPr>
          <a:xfrm>
            <a:off x="7238880" y="2000160"/>
            <a:ext cx="3714480" cy="37144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직사각형 386"/>
          <p:cNvSpPr/>
          <p:nvPr/>
        </p:nvSpPr>
        <p:spPr>
          <a:xfrm>
            <a:off x="7524720" y="226692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긴급도 ↑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직선 연결선 387"/>
          <p:cNvSpPr/>
          <p:nvPr/>
        </p:nvSpPr>
        <p:spPr>
          <a:xfrm>
            <a:off x="8001000" y="2857320"/>
            <a:ext cx="360" cy="2095560"/>
          </a:xfrm>
          <a:prstGeom prst="line">
            <a:avLst/>
          </a:prstGeom>
          <a:ln w="19050">
            <a:solidFill>
              <a:srgbClr val="11141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직선 연결선 388"/>
          <p:cNvSpPr/>
          <p:nvPr/>
        </p:nvSpPr>
        <p:spPr>
          <a:xfrm>
            <a:off x="8001000" y="4952880"/>
            <a:ext cx="2190600" cy="360"/>
          </a:xfrm>
          <a:prstGeom prst="line">
            <a:avLst/>
          </a:prstGeom>
          <a:ln w="19050">
            <a:solidFill>
              <a:srgbClr val="11141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직선 연결선 389"/>
          <p:cNvSpPr/>
          <p:nvPr/>
        </p:nvSpPr>
        <p:spPr>
          <a:xfrm>
            <a:off x="9096120" y="2857320"/>
            <a:ext cx="360" cy="20955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직선 연결선 390"/>
          <p:cNvSpPr/>
          <p:nvPr/>
        </p:nvSpPr>
        <p:spPr>
          <a:xfrm>
            <a:off x="8001000" y="3904920"/>
            <a:ext cx="21906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직사각형 391"/>
          <p:cNvSpPr/>
          <p:nvPr/>
        </p:nvSpPr>
        <p:spPr>
          <a:xfrm>
            <a:off x="9096480" y="2857680"/>
            <a:ext cx="1095120" cy="1047240"/>
          </a:xfrm>
          <a:prstGeom prst="rect">
            <a:avLst/>
          </a:prstGeom>
          <a:solidFill>
            <a:srgbClr val="E7EE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직사각형 392"/>
          <p:cNvSpPr/>
          <p:nvPr/>
        </p:nvSpPr>
        <p:spPr>
          <a:xfrm>
            <a:off x="8001000" y="2857680"/>
            <a:ext cx="1095120" cy="1047240"/>
          </a:xfrm>
          <a:prstGeom prst="rect">
            <a:avLst/>
          </a:prstGeom>
          <a:solidFill>
            <a:srgbClr val="FFF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직사각형 393"/>
          <p:cNvSpPr/>
          <p:nvPr/>
        </p:nvSpPr>
        <p:spPr>
          <a:xfrm>
            <a:off x="8143920" y="3286080"/>
            <a:ext cx="856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관찰</a:t>
            </a:r>
            <a:r>
              <a:rPr lang="en-US" sz="12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준비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직사각형 394"/>
          <p:cNvSpPr/>
          <p:nvPr/>
        </p:nvSpPr>
        <p:spPr>
          <a:xfrm>
            <a:off x="9239400" y="3286080"/>
            <a:ext cx="856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즉시 대응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직사각형 395"/>
          <p:cNvSpPr/>
          <p:nvPr/>
        </p:nvSpPr>
        <p:spPr>
          <a:xfrm>
            <a:off x="8143920" y="4334040"/>
            <a:ext cx="856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기록 유지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직사각형 396"/>
          <p:cNvSpPr/>
          <p:nvPr/>
        </p:nvSpPr>
        <p:spPr>
          <a:xfrm>
            <a:off x="9239400" y="4334040"/>
            <a:ext cx="856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선별 대응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직사각형 397"/>
          <p:cNvSpPr/>
          <p:nvPr/>
        </p:nvSpPr>
        <p:spPr>
          <a:xfrm>
            <a:off x="8953560" y="523872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영향도 →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타원 398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타원 399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직사각형 400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직사각형 401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WORKFLOW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lide-13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프로젝트 진행 방식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직선 연결선 403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직사각형 404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직사각형 405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13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495360" y="1571760"/>
            <a:ext cx="85723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복잡한 상황일수록 진행 과정은 단순해야 합니다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직사각형 407"/>
          <p:cNvSpPr/>
          <p:nvPr/>
        </p:nvSpPr>
        <p:spPr>
          <a:xfrm>
            <a:off x="514440" y="2095560"/>
            <a:ext cx="49525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진단부터 실행까지 </a:t>
            </a:r>
            <a:r>
              <a:rPr lang="en-US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r>
              <a:rPr lang="zh-CN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단계로 관리합니다</a:t>
            </a:r>
            <a:r>
              <a:rPr lang="en-US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직선 연결선 408"/>
          <p:cNvSpPr/>
          <p:nvPr/>
        </p:nvSpPr>
        <p:spPr>
          <a:xfrm>
            <a:off x="1238040" y="3571560"/>
            <a:ext cx="8858160" cy="360"/>
          </a:xfrm>
          <a:prstGeom prst="line">
            <a:avLst/>
          </a:prstGeom>
          <a:ln w="28575">
            <a:solidFill>
              <a:srgbClr val="3B4B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타원 409"/>
          <p:cNvSpPr/>
          <p:nvPr/>
        </p:nvSpPr>
        <p:spPr>
          <a:xfrm>
            <a:off x="1047600" y="3409920"/>
            <a:ext cx="323640" cy="32364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직사각형 410"/>
          <p:cNvSpPr/>
          <p:nvPr/>
        </p:nvSpPr>
        <p:spPr>
          <a:xfrm>
            <a:off x="1047600" y="297180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직사각형 411"/>
          <p:cNvSpPr/>
          <p:nvPr/>
        </p:nvSpPr>
        <p:spPr>
          <a:xfrm>
            <a:off x="857160" y="400068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DISCOVER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직사각형 412"/>
          <p:cNvSpPr/>
          <p:nvPr/>
        </p:nvSpPr>
        <p:spPr>
          <a:xfrm>
            <a:off x="857160" y="4343400"/>
            <a:ext cx="1904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현황 진단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직사각형 413"/>
          <p:cNvSpPr/>
          <p:nvPr/>
        </p:nvSpPr>
        <p:spPr>
          <a:xfrm>
            <a:off x="857160" y="4762440"/>
            <a:ext cx="21902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보유 자료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채널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이해관계자 확인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타원 414"/>
          <p:cNvSpPr/>
          <p:nvPr/>
        </p:nvSpPr>
        <p:spPr>
          <a:xfrm>
            <a:off x="3905280" y="3409920"/>
            <a:ext cx="323640" cy="3236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직사각형 415"/>
          <p:cNvSpPr/>
          <p:nvPr/>
        </p:nvSpPr>
        <p:spPr>
          <a:xfrm>
            <a:off x="3905280" y="297180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직사각형 416"/>
          <p:cNvSpPr/>
          <p:nvPr/>
        </p:nvSpPr>
        <p:spPr>
          <a:xfrm>
            <a:off x="3714840" y="400068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MAP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직사각형 417"/>
          <p:cNvSpPr/>
          <p:nvPr/>
        </p:nvSpPr>
        <p:spPr>
          <a:xfrm>
            <a:off x="3714840" y="4343400"/>
            <a:ext cx="1904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위험 지도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직사각형 418"/>
          <p:cNvSpPr/>
          <p:nvPr/>
        </p:nvSpPr>
        <p:spPr>
          <a:xfrm>
            <a:off x="3714840" y="4762440"/>
            <a:ext cx="21902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확산 경로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검색 노출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핵심 주장 분석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타원 419"/>
          <p:cNvSpPr/>
          <p:nvPr/>
        </p:nvSpPr>
        <p:spPr>
          <a:xfrm>
            <a:off x="6762600" y="3409920"/>
            <a:ext cx="323640" cy="3236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직사각형 420"/>
          <p:cNvSpPr/>
          <p:nvPr/>
        </p:nvSpPr>
        <p:spPr>
          <a:xfrm>
            <a:off x="6762600" y="297180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직사각형 421"/>
          <p:cNvSpPr/>
          <p:nvPr/>
        </p:nvSpPr>
        <p:spPr>
          <a:xfrm>
            <a:off x="6572160" y="400068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DECIDE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직사각형 422"/>
          <p:cNvSpPr/>
          <p:nvPr/>
        </p:nvSpPr>
        <p:spPr>
          <a:xfrm>
            <a:off x="6572160" y="4343400"/>
            <a:ext cx="1904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대응 설계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직사각형 423"/>
          <p:cNvSpPr/>
          <p:nvPr/>
        </p:nvSpPr>
        <p:spPr>
          <a:xfrm>
            <a:off x="6572160" y="4762440"/>
            <a:ext cx="21902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우선순위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메시지</a:t>
            </a:r>
            <a:r>
              <a:rPr lang="en-US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책임자 결정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타원 424"/>
          <p:cNvSpPr/>
          <p:nvPr/>
        </p:nvSpPr>
        <p:spPr>
          <a:xfrm>
            <a:off x="9620280" y="3409920"/>
            <a:ext cx="323640" cy="32364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직사각형 425"/>
          <p:cNvSpPr/>
          <p:nvPr/>
        </p:nvSpPr>
        <p:spPr>
          <a:xfrm>
            <a:off x="9620280" y="297180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직사각형 426"/>
          <p:cNvSpPr/>
          <p:nvPr/>
        </p:nvSpPr>
        <p:spPr>
          <a:xfrm>
            <a:off x="9429840" y="400068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OPERATE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직사각형 427"/>
          <p:cNvSpPr/>
          <p:nvPr/>
        </p:nvSpPr>
        <p:spPr>
          <a:xfrm>
            <a:off x="9429840" y="4343400"/>
            <a:ext cx="1904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실행</a:t>
            </a: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복기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직사각형 428"/>
          <p:cNvSpPr/>
          <p:nvPr/>
        </p:nvSpPr>
        <p:spPr>
          <a:xfrm>
            <a:off x="9429840" y="4762440"/>
            <a:ext cx="21902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9EAABD"/>
                </a:solidFill>
                <a:effectLst/>
                <a:uFillTx/>
                <a:latin typeface="맑은 고딕"/>
                <a:ea typeface="맑은 고딕"/>
              </a:rPr>
              <a:t>채널별 실행과 재발 방지 기준 정리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사각형: 둥근 모서리 429"/>
          <p:cNvSpPr/>
          <p:nvPr/>
        </p:nvSpPr>
        <p:spPr>
          <a:xfrm>
            <a:off x="762120" y="5572080"/>
            <a:ext cx="10667520" cy="552240"/>
          </a:xfrm>
          <a:prstGeom prst="roundRect">
            <a:avLst>
              <a:gd name="adj" fmla="val 17241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직사각형 430"/>
          <p:cNvSpPr/>
          <p:nvPr/>
        </p:nvSpPr>
        <p:spPr>
          <a:xfrm>
            <a:off x="1000080" y="5753160"/>
            <a:ext cx="14284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DELIVERABLE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직사각형 431"/>
          <p:cNvSpPr/>
          <p:nvPr/>
        </p:nvSpPr>
        <p:spPr>
          <a:xfrm>
            <a:off x="2428920" y="5724360"/>
            <a:ext cx="847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위험 진단표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확산 경로 맵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메시지 가이드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실행 우선순위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사후 리포트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타원 432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타원 433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직사각형 434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IMPACT OVERVIEW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lide-14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가상 성과 요약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직선 연결선 436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직사각형 437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직사각형 438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직사각형 439"/>
          <p:cNvSpPr/>
          <p:nvPr/>
        </p:nvSpPr>
        <p:spPr>
          <a:xfrm>
            <a:off x="495360" y="1571760"/>
            <a:ext cx="666720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평판이 흔들리는 순간</a:t>
            </a:r>
            <a:r>
              <a:rPr lang="en-US" sz="28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결과로 증명하는 파트너</a:t>
            </a:r>
            <a:r>
              <a:rPr lang="en-US" sz="28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사각형: 둥근 모서리 440"/>
          <p:cNvSpPr/>
          <p:nvPr/>
        </p:nvSpPr>
        <p:spPr>
          <a:xfrm>
            <a:off x="495360" y="3067200"/>
            <a:ext cx="2552400" cy="223812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직사각형 441"/>
          <p:cNvSpPr/>
          <p:nvPr/>
        </p:nvSpPr>
        <p:spPr>
          <a:xfrm>
            <a:off x="723960" y="3333600"/>
            <a:ext cx="142848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350" b="1" u="none" strike="noStrike" dirty="0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800+</a:t>
            </a:r>
            <a:endParaRPr lang="en-US" sz="4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직사각형 442"/>
          <p:cNvSpPr/>
          <p:nvPr/>
        </p:nvSpPr>
        <p:spPr>
          <a:xfrm>
            <a:off x="2209680" y="360036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직선 연결선 443"/>
          <p:cNvSpPr/>
          <p:nvPr/>
        </p:nvSpPr>
        <p:spPr>
          <a:xfrm>
            <a:off x="723600" y="4095720"/>
            <a:ext cx="209556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직사각형 444"/>
          <p:cNvSpPr/>
          <p:nvPr/>
        </p:nvSpPr>
        <p:spPr>
          <a:xfrm>
            <a:off x="723960" y="4400640"/>
            <a:ext cx="20476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 dirty="0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온라인 평판 위기 대응 프로젝트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직사각형 445"/>
          <p:cNvSpPr/>
          <p:nvPr/>
        </p:nvSpPr>
        <p:spPr>
          <a:xfrm>
            <a:off x="723960" y="5010120"/>
            <a:ext cx="19998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사각형: 둥근 모서리 446"/>
          <p:cNvSpPr/>
          <p:nvPr/>
        </p:nvSpPr>
        <p:spPr>
          <a:xfrm>
            <a:off x="3352680" y="3067200"/>
            <a:ext cx="2552400" cy="223812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직사각형 447"/>
          <p:cNvSpPr/>
          <p:nvPr/>
        </p:nvSpPr>
        <p:spPr>
          <a:xfrm>
            <a:off x="3581280" y="3333600"/>
            <a:ext cx="142848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17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직사각형 448"/>
          <p:cNvSpPr/>
          <p:nvPr/>
        </p:nvSpPr>
        <p:spPr>
          <a:xfrm>
            <a:off x="5067360" y="360036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직선 연결선 449"/>
          <p:cNvSpPr/>
          <p:nvPr/>
        </p:nvSpPr>
        <p:spPr>
          <a:xfrm>
            <a:off x="3581280" y="4095720"/>
            <a:ext cx="209556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직사각형 450"/>
          <p:cNvSpPr/>
          <p:nvPr/>
        </p:nvSpPr>
        <p:spPr>
          <a:xfrm>
            <a:off x="3581280" y="4400640"/>
            <a:ext cx="20476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이상 징후 발견 후 평균 초기 분류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직사각형 451"/>
          <p:cNvSpPr/>
          <p:nvPr/>
        </p:nvSpPr>
        <p:spPr>
          <a:xfrm>
            <a:off x="3581280" y="5010120"/>
            <a:ext cx="19998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사각형: 둥근 모서리 452"/>
          <p:cNvSpPr/>
          <p:nvPr/>
        </p:nvSpPr>
        <p:spPr>
          <a:xfrm>
            <a:off x="6210360" y="3067200"/>
            <a:ext cx="2552400" cy="223812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직사각형 453"/>
          <p:cNvSpPr/>
          <p:nvPr/>
        </p:nvSpPr>
        <p:spPr>
          <a:xfrm>
            <a:off x="6438960" y="3333600"/>
            <a:ext cx="142848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68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직사각형 454"/>
          <p:cNvSpPr/>
          <p:nvPr/>
        </p:nvSpPr>
        <p:spPr>
          <a:xfrm>
            <a:off x="7924680" y="360036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직선 연결선 455"/>
          <p:cNvSpPr/>
          <p:nvPr/>
        </p:nvSpPr>
        <p:spPr>
          <a:xfrm>
            <a:off x="6438600" y="4095720"/>
            <a:ext cx="209556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직사각형 456"/>
          <p:cNvSpPr/>
          <p:nvPr/>
        </p:nvSpPr>
        <p:spPr>
          <a:xfrm>
            <a:off x="6438960" y="4400640"/>
            <a:ext cx="20476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대응 </a:t>
            </a:r>
            <a:r>
              <a:rPr lang="en-US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72</a:t>
            </a: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시간 후 평균 부정 확산량 감소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직사각형 457"/>
          <p:cNvSpPr/>
          <p:nvPr/>
        </p:nvSpPr>
        <p:spPr>
          <a:xfrm>
            <a:off x="6438960" y="5010120"/>
            <a:ext cx="19998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사각형: 둥근 모서리 458"/>
          <p:cNvSpPr/>
          <p:nvPr/>
        </p:nvSpPr>
        <p:spPr>
          <a:xfrm>
            <a:off x="9067680" y="3067200"/>
            <a:ext cx="2552400" cy="2238120"/>
          </a:xfrm>
          <a:prstGeom prst="roundRect">
            <a:avLst>
              <a:gd name="adj" fmla="val 6383"/>
            </a:avLst>
          </a:prstGeom>
          <a:solidFill>
            <a:srgbClr val="E7EE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직사각형 459"/>
          <p:cNvSpPr/>
          <p:nvPr/>
        </p:nvSpPr>
        <p:spPr>
          <a:xfrm>
            <a:off x="9296280" y="3333600"/>
            <a:ext cx="142848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54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직사각형 460"/>
          <p:cNvSpPr/>
          <p:nvPr/>
        </p:nvSpPr>
        <p:spPr>
          <a:xfrm>
            <a:off x="10782360" y="360036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직선 연결선 461"/>
          <p:cNvSpPr/>
          <p:nvPr/>
        </p:nvSpPr>
        <p:spPr>
          <a:xfrm>
            <a:off x="9296280" y="4095720"/>
            <a:ext cx="209556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직사각형 462"/>
          <p:cNvSpPr/>
          <p:nvPr/>
        </p:nvSpPr>
        <p:spPr>
          <a:xfrm>
            <a:off x="9296280" y="4400640"/>
            <a:ext cx="20476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주요 검색 결과 내 위험 노출 개선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직사각형 463"/>
          <p:cNvSpPr/>
          <p:nvPr/>
        </p:nvSpPr>
        <p:spPr>
          <a:xfrm>
            <a:off x="9296280" y="5010120"/>
            <a:ext cx="19998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타원 466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타원 467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직사각형 468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직사각형 469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CASE 01 · ENTERPRISE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lide-15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대형 소비재 기업 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A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직선 연결선 471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직사각형 472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직사각형 473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15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사각형: 둥근 모서리 474"/>
          <p:cNvSpPr/>
          <p:nvPr/>
        </p:nvSpPr>
        <p:spPr>
          <a:xfrm>
            <a:off x="495360" y="1447920"/>
            <a:ext cx="1952280" cy="28548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직사각형 475"/>
          <p:cNvSpPr/>
          <p:nvPr/>
        </p:nvSpPr>
        <p:spPr>
          <a:xfrm>
            <a:off x="495360" y="1514520"/>
            <a:ext cx="195228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직사각형 476"/>
          <p:cNvSpPr/>
          <p:nvPr/>
        </p:nvSpPr>
        <p:spPr>
          <a:xfrm>
            <a:off x="495360" y="1924200"/>
            <a:ext cx="69530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제품 결함 루머의 전국 확산 차단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직사각형 477"/>
          <p:cNvSpPr/>
          <p:nvPr/>
        </p:nvSpPr>
        <p:spPr>
          <a:xfrm>
            <a:off x="514440" y="2523960"/>
            <a:ext cx="72385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익명 커뮤니티에서 시작된 결함 주장이 </a:t>
            </a:r>
            <a:r>
              <a:rPr lang="en-US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6</a:t>
            </a:r>
            <a:r>
              <a:rPr lang="zh-CN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시간 만에 </a:t>
            </a:r>
            <a:r>
              <a:rPr lang="en-US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SNS</a:t>
            </a:r>
            <a:r>
              <a:rPr lang="zh-CN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와 영상 플랫폼으로 이동했습니다</a:t>
            </a:r>
            <a:r>
              <a:rPr lang="en-US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최초 게시물과 재확산 계정을 분리하고</a:t>
            </a:r>
            <a:r>
              <a:rPr lang="en-US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소비자가 실제로 불안해하는 지점을 중심으로 메시지를 재설계했습니다</a:t>
            </a:r>
            <a:r>
              <a:rPr lang="en-US" sz="1280" b="0" u="none" strike="noStrike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사각형: 둥근 모서리 478"/>
          <p:cNvSpPr/>
          <p:nvPr/>
        </p:nvSpPr>
        <p:spPr>
          <a:xfrm>
            <a:off x="495360" y="3571920"/>
            <a:ext cx="4667040" cy="2190240"/>
          </a:xfrm>
          <a:prstGeom prst="roundRect">
            <a:avLst>
              <a:gd name="adj" fmla="val 608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직사각형 479"/>
          <p:cNvSpPr/>
          <p:nvPr/>
        </p:nvSpPr>
        <p:spPr>
          <a:xfrm>
            <a:off x="762120" y="3857760"/>
            <a:ext cx="1618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KEY RESULT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직사각형 480"/>
          <p:cNvSpPr/>
          <p:nvPr/>
        </p:nvSpPr>
        <p:spPr>
          <a:xfrm>
            <a:off x="762120" y="4286160"/>
            <a:ext cx="161892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5D5D"/>
                </a:solidFill>
                <a:effectLst/>
                <a:uFillTx/>
                <a:latin typeface="맑은 고딕"/>
                <a:ea typeface="맑은 고딕"/>
              </a:rPr>
              <a:t>+310%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직사각형 481"/>
          <p:cNvSpPr/>
          <p:nvPr/>
        </p:nvSpPr>
        <p:spPr>
          <a:xfrm>
            <a:off x="2381400" y="4381560"/>
            <a:ext cx="47592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직사각형 482"/>
          <p:cNvSpPr/>
          <p:nvPr/>
        </p:nvSpPr>
        <p:spPr>
          <a:xfrm>
            <a:off x="2952720" y="4286160"/>
            <a:ext cx="142848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-76%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직사각형 483"/>
          <p:cNvSpPr/>
          <p:nvPr/>
        </p:nvSpPr>
        <p:spPr>
          <a:xfrm>
            <a:off x="762120" y="48769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99A5B8"/>
                </a:solidFill>
                <a:effectLst/>
                <a:uFillTx/>
                <a:latin typeface="맑은 고딕"/>
                <a:ea typeface="맑은 고딕"/>
              </a:rPr>
              <a:t>부정 언급 증가율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직사각형 484"/>
          <p:cNvSpPr/>
          <p:nvPr/>
        </p:nvSpPr>
        <p:spPr>
          <a:xfrm>
            <a:off x="762120" y="5257800"/>
            <a:ext cx="1523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9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건 →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건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직사각형 485"/>
          <p:cNvSpPr/>
          <p:nvPr/>
        </p:nvSpPr>
        <p:spPr>
          <a:xfrm>
            <a:off x="762120" y="5524560"/>
            <a:ext cx="17143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0" u="none" strike="noStrike">
                <a:solidFill>
                  <a:srgbClr val="99A5B8"/>
                </a:solidFill>
                <a:effectLst/>
                <a:uFillTx/>
                <a:latin typeface="맑은 고딕"/>
                <a:ea typeface="맑은 고딕"/>
              </a:rPr>
              <a:t>주요 검색 위험 콘텐츠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직사각형 486"/>
          <p:cNvSpPr/>
          <p:nvPr/>
        </p:nvSpPr>
        <p:spPr>
          <a:xfrm>
            <a:off x="2857680" y="5257800"/>
            <a:ext cx="133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61%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감소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직사각형 487"/>
          <p:cNvSpPr/>
          <p:nvPr/>
        </p:nvSpPr>
        <p:spPr>
          <a:xfrm>
            <a:off x="2857680" y="5524560"/>
            <a:ext cx="1618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980" b="0" u="none" strike="noStrike">
                <a:solidFill>
                  <a:srgbClr val="99A5B8"/>
                </a:solidFill>
                <a:effectLst/>
                <a:uFillTx/>
                <a:latin typeface="맑은 고딕"/>
                <a:ea typeface="맑은 고딕"/>
              </a:rPr>
              <a:t>고객센터 반복 문의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사각형: 둥근 모서리 488"/>
          <p:cNvSpPr/>
          <p:nvPr/>
        </p:nvSpPr>
        <p:spPr>
          <a:xfrm>
            <a:off x="5524560" y="3571920"/>
            <a:ext cx="6095520" cy="2190240"/>
          </a:xfrm>
          <a:prstGeom prst="roundRect">
            <a:avLst>
              <a:gd name="adj" fmla="val 608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직사각형 489"/>
          <p:cNvSpPr/>
          <p:nvPr/>
        </p:nvSpPr>
        <p:spPr>
          <a:xfrm>
            <a:off x="5791320" y="3857760"/>
            <a:ext cx="20952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72H SPREAD VELOCITY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1" name="Chart"/>
          <p:cNvGraphicFramePr/>
          <p:nvPr/>
        </p:nvGraphicFramePr>
        <p:xfrm>
          <a:off x="5905440" y="4238640"/>
          <a:ext cx="5143320" cy="1238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2" name="직사각형 491"/>
          <p:cNvSpPr/>
          <p:nvPr/>
        </p:nvSpPr>
        <p:spPr>
          <a:xfrm>
            <a:off x="5791320" y="550548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확산이 빠른 곳보다 신뢰가 이동하는 길목을 먼저 차단했습니다</a:t>
            </a: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타원 492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타원 493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직사각형 494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CASE 02 · CREATOR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lide-16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구독자 </a:t>
            </a:r>
            <a:r>
              <a:rPr lang="en-US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380</a:t>
            </a: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만 크리에이터 </a:t>
            </a:r>
            <a:r>
              <a:rPr lang="en-US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C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직선 연결선 496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직사각형 497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직사각형 498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16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사각형: 둥근 모서리 499"/>
          <p:cNvSpPr/>
          <p:nvPr/>
        </p:nvSpPr>
        <p:spPr>
          <a:xfrm>
            <a:off x="495360" y="1447920"/>
            <a:ext cx="1952280" cy="285480"/>
          </a:xfrm>
          <a:prstGeom prst="roundRect">
            <a:avLst>
              <a:gd name="adj" fmla="val 50000"/>
            </a:avLst>
          </a:prstGeom>
          <a:solidFill>
            <a:srgbClr val="0609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직사각형 500"/>
          <p:cNvSpPr/>
          <p:nvPr/>
        </p:nvSpPr>
        <p:spPr>
          <a:xfrm>
            <a:off x="495360" y="1514520"/>
            <a:ext cx="195228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직사각형 501"/>
          <p:cNvSpPr/>
          <p:nvPr/>
        </p:nvSpPr>
        <p:spPr>
          <a:xfrm>
            <a:off x="495360" y="1924200"/>
            <a:ext cx="85723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47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과거 영상 재편집 논란과 광고주 이탈 방어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직사각형 502"/>
          <p:cNvSpPr/>
          <p:nvPr/>
        </p:nvSpPr>
        <p:spPr>
          <a:xfrm>
            <a:off x="514440" y="2523960"/>
            <a:ext cx="8096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수년 전 영상 일부가 현재 상황처럼 재편집되며 광고주와 대중의 문의가 동시에 발생했습니다</a:t>
            </a:r>
            <a:r>
              <a:rPr lang="en-US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감정적인 반박을 중단하고 원본 영상</a:t>
            </a:r>
            <a:r>
              <a:rPr lang="en-US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시간 순서</a:t>
            </a:r>
            <a:r>
              <a:rPr lang="en-US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발언 맥락을 한 번에 확인할 수 있는 자료로 전환했습니다</a:t>
            </a:r>
            <a:r>
              <a:rPr lang="en-US" sz="128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직선 연결선 503"/>
          <p:cNvSpPr/>
          <p:nvPr/>
        </p:nvSpPr>
        <p:spPr>
          <a:xfrm>
            <a:off x="904680" y="4000320"/>
            <a:ext cx="10001160" cy="360"/>
          </a:xfrm>
          <a:prstGeom prst="line">
            <a:avLst/>
          </a:prstGeom>
          <a:ln w="28575">
            <a:solidFill>
              <a:srgbClr val="2D66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타원 504"/>
          <p:cNvSpPr/>
          <p:nvPr/>
        </p:nvSpPr>
        <p:spPr>
          <a:xfrm>
            <a:off x="819000" y="391464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직사각형 505"/>
          <p:cNvSpPr/>
          <p:nvPr/>
        </p:nvSpPr>
        <p:spPr>
          <a:xfrm>
            <a:off x="619200" y="3571920"/>
            <a:ext cx="761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0H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직사각형 506"/>
          <p:cNvSpPr/>
          <p:nvPr/>
        </p:nvSpPr>
        <p:spPr>
          <a:xfrm>
            <a:off x="190440" y="42480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편집 영상 확산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타원 507"/>
          <p:cNvSpPr/>
          <p:nvPr/>
        </p:nvSpPr>
        <p:spPr>
          <a:xfrm>
            <a:off x="3314880" y="3914640"/>
            <a:ext cx="171000" cy="17100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직사각형 508"/>
          <p:cNvSpPr/>
          <p:nvPr/>
        </p:nvSpPr>
        <p:spPr>
          <a:xfrm>
            <a:off x="3114720" y="3571920"/>
            <a:ext cx="761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4H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직사각형 509"/>
          <p:cNvSpPr/>
          <p:nvPr/>
        </p:nvSpPr>
        <p:spPr>
          <a:xfrm>
            <a:off x="2685960" y="42480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원본</a:t>
            </a:r>
            <a:r>
              <a:rPr lang="en-US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맥락 확인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타원 510"/>
          <p:cNvSpPr/>
          <p:nvPr/>
        </p:nvSpPr>
        <p:spPr>
          <a:xfrm>
            <a:off x="5810400" y="391464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직사각형 511"/>
          <p:cNvSpPr/>
          <p:nvPr/>
        </p:nvSpPr>
        <p:spPr>
          <a:xfrm>
            <a:off x="5610240" y="3571920"/>
            <a:ext cx="761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12H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직사각형 512"/>
          <p:cNvSpPr/>
          <p:nvPr/>
        </p:nvSpPr>
        <p:spPr>
          <a:xfrm>
            <a:off x="5181480" y="42480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파트너 안내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타원 513"/>
          <p:cNvSpPr/>
          <p:nvPr/>
        </p:nvSpPr>
        <p:spPr>
          <a:xfrm>
            <a:off x="8305920" y="3914640"/>
            <a:ext cx="171000" cy="171000"/>
          </a:xfrm>
          <a:prstGeom prst="ellipse">
            <a:avLst/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직사각형 514"/>
          <p:cNvSpPr/>
          <p:nvPr/>
        </p:nvSpPr>
        <p:spPr>
          <a:xfrm>
            <a:off x="8105760" y="3571920"/>
            <a:ext cx="761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24H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직사각형 515"/>
          <p:cNvSpPr/>
          <p:nvPr/>
        </p:nvSpPr>
        <p:spPr>
          <a:xfrm>
            <a:off x="7677000" y="42480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공식 자료 공개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타원 516"/>
          <p:cNvSpPr/>
          <p:nvPr/>
        </p:nvSpPr>
        <p:spPr>
          <a:xfrm>
            <a:off x="10801440" y="391464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직사각형 517"/>
          <p:cNvSpPr/>
          <p:nvPr/>
        </p:nvSpPr>
        <p:spPr>
          <a:xfrm>
            <a:off x="10601280" y="3571920"/>
            <a:ext cx="7617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72H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직사각형 518"/>
          <p:cNvSpPr/>
          <p:nvPr/>
        </p:nvSpPr>
        <p:spPr>
          <a:xfrm>
            <a:off x="10172880" y="4248000"/>
            <a:ext cx="142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검색 안정화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사각형: 둥근 모서리 519"/>
          <p:cNvSpPr/>
          <p:nvPr/>
        </p:nvSpPr>
        <p:spPr>
          <a:xfrm>
            <a:off x="495360" y="4952880"/>
            <a:ext cx="2552400" cy="99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직사각형 520"/>
          <p:cNvSpPr/>
          <p:nvPr/>
        </p:nvSpPr>
        <p:spPr>
          <a:xfrm>
            <a:off x="685800" y="518148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58% </a:t>
            </a:r>
            <a:r>
              <a:rPr lang="zh-CN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감소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직사각형 521"/>
          <p:cNvSpPr/>
          <p:nvPr/>
        </p:nvSpPr>
        <p:spPr>
          <a:xfrm>
            <a:off x="685800" y="5553000"/>
            <a:ext cx="1999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이름 연관 부정 검색어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사각형: 둥근 모서리 522"/>
          <p:cNvSpPr/>
          <p:nvPr/>
        </p:nvSpPr>
        <p:spPr>
          <a:xfrm>
            <a:off x="3352680" y="4952880"/>
            <a:ext cx="2552400" cy="99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직사각형 523"/>
          <p:cNvSpPr/>
          <p:nvPr/>
        </p:nvSpPr>
        <p:spPr>
          <a:xfrm>
            <a:off x="3543480" y="518148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320</a:t>
            </a:r>
            <a:r>
              <a:rPr lang="zh-CN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만 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직사각형 524"/>
          <p:cNvSpPr/>
          <p:nvPr/>
        </p:nvSpPr>
        <p:spPr>
          <a:xfrm>
            <a:off x="3543480" y="5553000"/>
            <a:ext cx="1999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원본 맥락 콘텐츠 조회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사각형: 둥근 모서리 525"/>
          <p:cNvSpPr/>
          <p:nvPr/>
        </p:nvSpPr>
        <p:spPr>
          <a:xfrm>
            <a:off x="6210360" y="4952880"/>
            <a:ext cx="2552400" cy="99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직사각형 526"/>
          <p:cNvSpPr/>
          <p:nvPr/>
        </p:nvSpPr>
        <p:spPr>
          <a:xfrm>
            <a:off x="6400800" y="518148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11</a:t>
            </a:r>
            <a:r>
              <a:rPr lang="zh-CN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건 통합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직사각형 527"/>
          <p:cNvSpPr/>
          <p:nvPr/>
        </p:nvSpPr>
        <p:spPr>
          <a:xfrm>
            <a:off x="6400800" y="5553000"/>
            <a:ext cx="1999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광고주</a:t>
            </a:r>
            <a:r>
              <a:rPr lang="en-US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파트너 문의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사각형: 둥근 모서리 528"/>
          <p:cNvSpPr/>
          <p:nvPr/>
        </p:nvSpPr>
        <p:spPr>
          <a:xfrm>
            <a:off x="9067680" y="4952880"/>
            <a:ext cx="2552400" cy="99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직사각형 529"/>
          <p:cNvSpPr/>
          <p:nvPr/>
        </p:nvSpPr>
        <p:spPr>
          <a:xfrm>
            <a:off x="9258480" y="518148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정상 유지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직사각형 530"/>
          <p:cNvSpPr/>
          <p:nvPr/>
        </p:nvSpPr>
        <p:spPr>
          <a:xfrm>
            <a:off x="9258480" y="5553000"/>
            <a:ext cx="1999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기존 브랜드 협업 일정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타원 531"/>
          <p:cNvSpPr/>
          <p:nvPr/>
        </p:nvSpPr>
        <p:spPr>
          <a:xfrm>
            <a:off x="8858160" y="3333600"/>
            <a:ext cx="3238200" cy="323820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타원 532"/>
          <p:cNvSpPr/>
          <p:nvPr/>
        </p:nvSpPr>
        <p:spPr>
          <a:xfrm>
            <a:off x="9620280" y="4143240"/>
            <a:ext cx="2333160" cy="2333160"/>
          </a:xfrm>
          <a:prstGeom prst="ellipse">
            <a:avLst/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직사각형 533"/>
          <p:cNvSpPr/>
          <p:nvPr/>
        </p:nvSpPr>
        <p:spPr>
          <a:xfrm>
            <a:off x="0" y="6191280"/>
            <a:ext cx="12191760" cy="666360"/>
          </a:xfrm>
          <a:prstGeom prst="rect">
            <a:avLst/>
          </a:prstGeom>
          <a:solidFill>
            <a:srgbClr val="0D14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직사각형 534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CASE 03 · PUBLIC FIGURE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lide-17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글로벌 브랜드 앰배서더 </a:t>
            </a:r>
            <a:r>
              <a:rPr lang="en-US" sz="31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D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직선 연결선 536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직사각형 537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직사각형 538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990"/>
                </a:solidFill>
                <a:effectLst/>
                <a:uFillTx/>
                <a:latin typeface="맑은 고딕"/>
                <a:ea typeface="맑은 고딕"/>
              </a:rPr>
              <a:t>17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사각형: 둥근 모서리 539"/>
          <p:cNvSpPr/>
          <p:nvPr/>
        </p:nvSpPr>
        <p:spPr>
          <a:xfrm>
            <a:off x="495360" y="1447920"/>
            <a:ext cx="1952280" cy="28548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직사각형 540"/>
          <p:cNvSpPr/>
          <p:nvPr/>
        </p:nvSpPr>
        <p:spPr>
          <a:xfrm>
            <a:off x="495360" y="1514520"/>
            <a:ext cx="195228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PORTFOLIO SIMULATION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직사각형 541"/>
          <p:cNvSpPr/>
          <p:nvPr/>
        </p:nvSpPr>
        <p:spPr>
          <a:xfrm>
            <a:off x="495360" y="1924200"/>
            <a:ext cx="71434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255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사칭 계정과 조작 콘텐츠 확산 방어</a:t>
            </a:r>
            <a:endParaRPr lang="en-US" sz="25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직사각형 542"/>
          <p:cNvSpPr/>
          <p:nvPr/>
        </p:nvSpPr>
        <p:spPr>
          <a:xfrm>
            <a:off x="514440" y="2523960"/>
            <a:ext cx="676224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8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인물을 사칭한 계정에서 조작된 메시지와 합성 콘텐츠가 반복적으로 유포됐습니다</a:t>
            </a:r>
            <a:r>
              <a:rPr lang="en-US" sz="128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28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계정 간 연결 관계와 원본 게시 경로를 추적하고 플랫폼별 신고 근거를 표준화했습니다</a:t>
            </a:r>
            <a:r>
              <a:rPr lang="en-US" sz="1280" b="0" u="none" strike="noStrike" dirty="0">
                <a:solidFill>
                  <a:srgbClr val="AAB5C8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사각형: 둥근 모서리 543"/>
          <p:cNvSpPr/>
          <p:nvPr/>
        </p:nvSpPr>
        <p:spPr>
          <a:xfrm>
            <a:off x="495360" y="3571920"/>
            <a:ext cx="4095360" cy="2190240"/>
          </a:xfrm>
          <a:prstGeom prst="roundRect">
            <a:avLst>
              <a:gd name="adj" fmla="val 6087"/>
            </a:avLst>
          </a:prstGeom>
          <a:solidFill>
            <a:srgbClr val="0D1423"/>
          </a:solidFill>
          <a:ln w="9525">
            <a:solidFill>
              <a:srgbClr val="2632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직사각형 544"/>
          <p:cNvSpPr/>
          <p:nvPr/>
        </p:nvSpPr>
        <p:spPr>
          <a:xfrm>
            <a:off x="762120" y="3905280"/>
            <a:ext cx="952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17</a:t>
            </a:r>
            <a:r>
              <a:rPr lang="zh-CN" sz="15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개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직사각형 545"/>
          <p:cNvSpPr/>
          <p:nvPr/>
        </p:nvSpPr>
        <p:spPr>
          <a:xfrm>
            <a:off x="1809720" y="39146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사칭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재유포 계정 차단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직사각형 546"/>
          <p:cNvSpPr/>
          <p:nvPr/>
        </p:nvSpPr>
        <p:spPr>
          <a:xfrm>
            <a:off x="762120" y="4324320"/>
            <a:ext cx="952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84D"/>
                </a:solidFill>
                <a:effectLst/>
                <a:uFillTx/>
                <a:latin typeface="맑은 고딕"/>
                <a:ea typeface="맑은 고딕"/>
              </a:rPr>
              <a:t>82%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직사각형 547"/>
          <p:cNvSpPr/>
          <p:nvPr/>
        </p:nvSpPr>
        <p:spPr>
          <a:xfrm>
            <a:off x="1809720" y="43340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핵심 조작 콘텐츠 제거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직사각형 548"/>
          <p:cNvSpPr/>
          <p:nvPr/>
        </p:nvSpPr>
        <p:spPr>
          <a:xfrm>
            <a:off x="762120" y="4743360"/>
            <a:ext cx="952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47%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직사각형 549"/>
          <p:cNvSpPr/>
          <p:nvPr/>
        </p:nvSpPr>
        <p:spPr>
          <a:xfrm>
            <a:off x="1809720" y="475308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연관 검색어 노출 감소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직사각형 550"/>
          <p:cNvSpPr/>
          <p:nvPr/>
        </p:nvSpPr>
        <p:spPr>
          <a:xfrm>
            <a:off x="762120" y="5162400"/>
            <a:ext cx="952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0</a:t>
            </a:r>
            <a:r>
              <a:rPr lang="zh-CN" sz="1500" b="1" u="none" strike="noStrike">
                <a:solidFill>
                  <a:srgbClr val="7FA4FF"/>
                </a:solidFill>
                <a:effectLst/>
                <a:uFillTx/>
                <a:latin typeface="맑은 고딕"/>
                <a:ea typeface="맑은 고딕"/>
              </a:rPr>
              <a:t>건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직사각형 551"/>
          <p:cNvSpPr/>
          <p:nvPr/>
        </p:nvSpPr>
        <p:spPr>
          <a:xfrm>
            <a:off x="1809720" y="5172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공식 안내 후 추가 피해 신고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직선 연결선 552"/>
          <p:cNvSpPr/>
          <p:nvPr/>
        </p:nvSpPr>
        <p:spPr>
          <a:xfrm flipV="1">
            <a:off x="5810040" y="3381120"/>
            <a:ext cx="857160" cy="5238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직선 연결선 553"/>
          <p:cNvSpPr/>
          <p:nvPr/>
        </p:nvSpPr>
        <p:spPr>
          <a:xfrm>
            <a:off x="5810040" y="3904920"/>
            <a:ext cx="1714680" cy="23832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직선 연결선 554"/>
          <p:cNvSpPr/>
          <p:nvPr/>
        </p:nvSpPr>
        <p:spPr>
          <a:xfrm>
            <a:off x="6667200" y="3381120"/>
            <a:ext cx="1905120" cy="954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직선 연결선 555"/>
          <p:cNvSpPr/>
          <p:nvPr/>
        </p:nvSpPr>
        <p:spPr>
          <a:xfrm flipV="1">
            <a:off x="7524720" y="3476520"/>
            <a:ext cx="1047600" cy="66672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직선 연결선 556"/>
          <p:cNvSpPr/>
          <p:nvPr/>
        </p:nvSpPr>
        <p:spPr>
          <a:xfrm>
            <a:off x="7524720" y="4143240"/>
            <a:ext cx="2190600" cy="42876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직선 연결선 557"/>
          <p:cNvSpPr/>
          <p:nvPr/>
        </p:nvSpPr>
        <p:spPr>
          <a:xfrm flipH="1">
            <a:off x="6762600" y="4143240"/>
            <a:ext cx="762120" cy="80964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직선 연결선 558"/>
          <p:cNvSpPr/>
          <p:nvPr/>
        </p:nvSpPr>
        <p:spPr>
          <a:xfrm>
            <a:off x="6762600" y="4952880"/>
            <a:ext cx="1333440" cy="28584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직선 연결선 559"/>
          <p:cNvSpPr/>
          <p:nvPr/>
        </p:nvSpPr>
        <p:spPr>
          <a:xfrm>
            <a:off x="8096040" y="5238720"/>
            <a:ext cx="1809720" cy="38088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직선 연결선 560"/>
          <p:cNvSpPr/>
          <p:nvPr/>
        </p:nvSpPr>
        <p:spPr>
          <a:xfrm flipH="1">
            <a:off x="5715000" y="4952880"/>
            <a:ext cx="1047600" cy="52380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직선 연결선 561"/>
          <p:cNvSpPr/>
          <p:nvPr/>
        </p:nvSpPr>
        <p:spPr>
          <a:xfrm flipV="1">
            <a:off x="5715000" y="3904920"/>
            <a:ext cx="95040" cy="1571760"/>
          </a:xfrm>
          <a:prstGeom prst="line">
            <a:avLst/>
          </a:prstGeom>
          <a:ln w="19050">
            <a:solidFill>
              <a:srgbClr val="46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타원 562"/>
          <p:cNvSpPr/>
          <p:nvPr/>
        </p:nvSpPr>
        <p:spPr>
          <a:xfrm>
            <a:off x="5724360" y="381960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타원 563"/>
          <p:cNvSpPr/>
          <p:nvPr/>
        </p:nvSpPr>
        <p:spPr>
          <a:xfrm>
            <a:off x="6581880" y="329580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타원 564"/>
          <p:cNvSpPr/>
          <p:nvPr/>
        </p:nvSpPr>
        <p:spPr>
          <a:xfrm>
            <a:off x="7439040" y="405756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타원 565"/>
          <p:cNvSpPr/>
          <p:nvPr/>
        </p:nvSpPr>
        <p:spPr>
          <a:xfrm>
            <a:off x="8486640" y="3390840"/>
            <a:ext cx="171000" cy="171000"/>
          </a:xfrm>
          <a:prstGeom prst="ellipse">
            <a:avLst/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직선 연결선 566"/>
          <p:cNvSpPr/>
          <p:nvPr/>
        </p:nvSpPr>
        <p:spPr>
          <a:xfrm>
            <a:off x="8524800" y="3429000"/>
            <a:ext cx="95040" cy="950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직선 연결선 567"/>
          <p:cNvSpPr/>
          <p:nvPr/>
        </p:nvSpPr>
        <p:spPr>
          <a:xfrm flipV="1">
            <a:off x="8524800" y="3429000"/>
            <a:ext cx="95040" cy="950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타원 568"/>
          <p:cNvSpPr/>
          <p:nvPr/>
        </p:nvSpPr>
        <p:spPr>
          <a:xfrm>
            <a:off x="9629640" y="4486320"/>
            <a:ext cx="171000" cy="171000"/>
          </a:xfrm>
          <a:prstGeom prst="ellipse">
            <a:avLst/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직선 연결선 569"/>
          <p:cNvSpPr/>
          <p:nvPr/>
        </p:nvSpPr>
        <p:spPr>
          <a:xfrm>
            <a:off x="9667800" y="4524120"/>
            <a:ext cx="95040" cy="9540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직선 연결선 570"/>
          <p:cNvSpPr/>
          <p:nvPr/>
        </p:nvSpPr>
        <p:spPr>
          <a:xfrm flipV="1">
            <a:off x="9667800" y="4524120"/>
            <a:ext cx="95040" cy="9540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타원 571"/>
          <p:cNvSpPr/>
          <p:nvPr/>
        </p:nvSpPr>
        <p:spPr>
          <a:xfrm>
            <a:off x="6676920" y="486720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타원 572"/>
          <p:cNvSpPr/>
          <p:nvPr/>
        </p:nvSpPr>
        <p:spPr>
          <a:xfrm>
            <a:off x="8010360" y="515304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타원 573"/>
          <p:cNvSpPr/>
          <p:nvPr/>
        </p:nvSpPr>
        <p:spPr>
          <a:xfrm>
            <a:off x="9820440" y="5533920"/>
            <a:ext cx="171000" cy="171000"/>
          </a:xfrm>
          <a:prstGeom prst="ellipse">
            <a:avLst/>
          </a:prstGeom>
          <a:solidFill>
            <a:srgbClr val="FF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직선 연결선 574"/>
          <p:cNvSpPr/>
          <p:nvPr/>
        </p:nvSpPr>
        <p:spPr>
          <a:xfrm>
            <a:off x="9858240" y="5572080"/>
            <a:ext cx="95040" cy="950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직선 연결선 575"/>
          <p:cNvSpPr/>
          <p:nvPr/>
        </p:nvSpPr>
        <p:spPr>
          <a:xfrm flipV="1">
            <a:off x="9858240" y="5572080"/>
            <a:ext cx="95040" cy="950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타원 576"/>
          <p:cNvSpPr/>
          <p:nvPr/>
        </p:nvSpPr>
        <p:spPr>
          <a:xfrm>
            <a:off x="5629320" y="5391000"/>
            <a:ext cx="171000" cy="171000"/>
          </a:xfrm>
          <a:prstGeom prst="ellipse">
            <a:avLst/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사각형: 둥근 모서리 577"/>
          <p:cNvSpPr/>
          <p:nvPr/>
        </p:nvSpPr>
        <p:spPr>
          <a:xfrm>
            <a:off x="7238880" y="5857920"/>
            <a:ext cx="2381040" cy="285480"/>
          </a:xfrm>
          <a:prstGeom prst="roundRect">
            <a:avLst>
              <a:gd name="adj" fmla="val 50000"/>
            </a:avLst>
          </a:prstGeom>
          <a:solidFill>
            <a:srgbClr val="2D66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직사각형 578"/>
          <p:cNvSpPr/>
          <p:nvPr/>
        </p:nvSpPr>
        <p:spPr>
          <a:xfrm>
            <a:off x="7238880" y="5924520"/>
            <a:ext cx="23810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SOURCE NETWORK CLOSED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타원 579"/>
          <p:cNvSpPr/>
          <p:nvPr/>
        </p:nvSpPr>
        <p:spPr>
          <a:xfrm>
            <a:off x="9524880" y="0"/>
            <a:ext cx="2666520" cy="2666520"/>
          </a:xfrm>
          <a:prstGeom prst="ellipse">
            <a:avLst/>
          </a:prstGeom>
          <a:solidFill>
            <a:srgbClr val="E8EE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타원 580"/>
          <p:cNvSpPr/>
          <p:nvPr/>
        </p:nvSpPr>
        <p:spPr>
          <a:xfrm>
            <a:off x="10287000" y="0"/>
            <a:ext cx="1714320" cy="1714320"/>
          </a:xfrm>
          <a:prstGeom prst="ellipse">
            <a:avLst/>
          </a:prstGeom>
          <a:solidFill>
            <a:srgbClr val="F4EE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직사각형 581"/>
          <p:cNvSpPr/>
          <p:nvPr/>
        </p:nvSpPr>
        <p:spPr>
          <a:xfrm>
            <a:off x="495360" y="34308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PARTNERSHIP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lide-18-title"/>
          <p:cNvSpPr/>
          <p:nvPr/>
        </p:nvSpPr>
        <p:spPr>
          <a:xfrm>
            <a:off x="495360" y="685800"/>
            <a:ext cx="108583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협업을 고민하는 파트너를 위한 답변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직선 연결선 583"/>
          <p:cNvSpPr/>
          <p:nvPr/>
        </p:nvSpPr>
        <p:spPr>
          <a:xfrm>
            <a:off x="495000" y="6495840"/>
            <a:ext cx="1120140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직사각형 584"/>
          <p:cNvSpPr/>
          <p:nvPr/>
        </p:nvSpPr>
        <p:spPr>
          <a:xfrm>
            <a:off x="495360" y="656280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COADS COMPANY PROFILE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직사각형 585"/>
          <p:cNvSpPr/>
          <p:nvPr/>
        </p:nvSpPr>
        <p:spPr>
          <a:xfrm>
            <a:off x="11144160" y="6553080"/>
            <a:ext cx="5234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94A2"/>
                </a:solidFill>
                <a:effectLst/>
                <a:uFillTx/>
                <a:latin typeface="맑은 고딕"/>
                <a:ea typeface="맑은 고딕"/>
              </a:rPr>
              <a:t>18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사각형: 둥근 모서리 586"/>
          <p:cNvSpPr/>
          <p:nvPr/>
        </p:nvSpPr>
        <p:spPr>
          <a:xfrm>
            <a:off x="495360" y="1523880"/>
            <a:ext cx="5409720" cy="1809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직사각형 587"/>
          <p:cNvSpPr/>
          <p:nvPr/>
        </p:nvSpPr>
        <p:spPr>
          <a:xfrm>
            <a:off x="743040" y="180972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Q1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직사각형 588"/>
          <p:cNvSpPr/>
          <p:nvPr/>
        </p:nvSpPr>
        <p:spPr>
          <a:xfrm>
            <a:off x="1352520" y="1762200"/>
            <a:ext cx="41907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어떤 단계에서 문의해야 하나요</a:t>
            </a:r>
            <a:r>
              <a:rPr lang="en-US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직선 연결선 589"/>
          <p:cNvSpPr/>
          <p:nvPr/>
        </p:nvSpPr>
        <p:spPr>
          <a:xfrm>
            <a:off x="742680" y="2266920"/>
            <a:ext cx="491508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직사각형 590"/>
          <p:cNvSpPr/>
          <p:nvPr/>
        </p:nvSpPr>
        <p:spPr>
          <a:xfrm>
            <a:off x="743040" y="2523960"/>
            <a:ext cx="485748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이미 논란이 커진 뒤뿐 아니라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반복 언급이나 검색어 변화가 보이는 초기 단계가 가장 좋습니다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사각형: 둥근 모서리 591"/>
          <p:cNvSpPr/>
          <p:nvPr/>
        </p:nvSpPr>
        <p:spPr>
          <a:xfrm>
            <a:off x="6210360" y="1523880"/>
            <a:ext cx="5409720" cy="1809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직사각형 592"/>
          <p:cNvSpPr/>
          <p:nvPr/>
        </p:nvSpPr>
        <p:spPr>
          <a:xfrm>
            <a:off x="6458040" y="180972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Q2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직사각형 593"/>
          <p:cNvSpPr/>
          <p:nvPr/>
        </p:nvSpPr>
        <p:spPr>
          <a:xfrm>
            <a:off x="7067520" y="1762200"/>
            <a:ext cx="41907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게시물 삭제만 요청할 수 있나요</a:t>
            </a:r>
            <a:r>
              <a:rPr lang="en-US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직선 연결선 594"/>
          <p:cNvSpPr/>
          <p:nvPr/>
        </p:nvSpPr>
        <p:spPr>
          <a:xfrm>
            <a:off x="6457680" y="2266920"/>
            <a:ext cx="491508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직사각형 595"/>
          <p:cNvSpPr/>
          <p:nvPr/>
        </p:nvSpPr>
        <p:spPr>
          <a:xfrm>
            <a:off x="6458040" y="2523960"/>
            <a:ext cx="485748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삭제 가능성만 판단하지 않습니다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사실관계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확산 경로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대응 우선순위를 먼저 진단합니다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사각형: 둥근 모서리 596"/>
          <p:cNvSpPr/>
          <p:nvPr/>
        </p:nvSpPr>
        <p:spPr>
          <a:xfrm>
            <a:off x="495360" y="3714840"/>
            <a:ext cx="5409720" cy="1809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직사각형 597"/>
          <p:cNvSpPr/>
          <p:nvPr/>
        </p:nvSpPr>
        <p:spPr>
          <a:xfrm>
            <a:off x="743040" y="400068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Q3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직사각형 598"/>
          <p:cNvSpPr/>
          <p:nvPr/>
        </p:nvSpPr>
        <p:spPr>
          <a:xfrm>
            <a:off x="1352520" y="3952800"/>
            <a:ext cx="41907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기업뿐 아니라 개인도 가능한가요</a:t>
            </a:r>
            <a:r>
              <a:rPr lang="en-US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직선 연결선 599"/>
          <p:cNvSpPr/>
          <p:nvPr/>
        </p:nvSpPr>
        <p:spPr>
          <a:xfrm>
            <a:off x="742680" y="4457520"/>
            <a:ext cx="491508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직사각형 600"/>
          <p:cNvSpPr/>
          <p:nvPr/>
        </p:nvSpPr>
        <p:spPr>
          <a:xfrm>
            <a:off x="743040" y="4714920"/>
            <a:ext cx="485748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기업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브랜드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경영진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인플루언서 등 온라인 평판이 중요한 주체라면 협업할 수 있습니다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사각형: 둥근 모서리 601"/>
          <p:cNvSpPr/>
          <p:nvPr/>
        </p:nvSpPr>
        <p:spPr>
          <a:xfrm>
            <a:off x="6210360" y="3714840"/>
            <a:ext cx="5409720" cy="1809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직사각형 602"/>
          <p:cNvSpPr/>
          <p:nvPr/>
        </p:nvSpPr>
        <p:spPr>
          <a:xfrm>
            <a:off x="6458040" y="400068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D66F6"/>
                </a:solidFill>
                <a:effectLst/>
                <a:uFillTx/>
                <a:latin typeface="맑은 고딕"/>
                <a:ea typeface="맑은 고딕"/>
              </a:rPr>
              <a:t>Q4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직사각형 603"/>
          <p:cNvSpPr/>
          <p:nvPr/>
        </p:nvSpPr>
        <p:spPr>
          <a:xfrm>
            <a:off x="7067520" y="3952800"/>
            <a:ext cx="41907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계약 후 무엇을 받게 되나요</a:t>
            </a:r>
            <a:r>
              <a:rPr lang="en-US" sz="1580" b="1" u="none" strike="noStrike">
                <a:solidFill>
                  <a:srgbClr val="11141B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직선 연결선 604"/>
          <p:cNvSpPr/>
          <p:nvPr/>
        </p:nvSpPr>
        <p:spPr>
          <a:xfrm>
            <a:off x="6457680" y="4457520"/>
            <a:ext cx="4915080" cy="360"/>
          </a:xfrm>
          <a:prstGeom prst="line">
            <a:avLst/>
          </a:prstGeom>
          <a:ln w="9525">
            <a:solidFill>
              <a:srgbClr val="CDD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직사각형 605"/>
          <p:cNvSpPr/>
          <p:nvPr/>
        </p:nvSpPr>
        <p:spPr>
          <a:xfrm>
            <a:off x="6458040" y="4714920"/>
            <a:ext cx="485748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위험 진단표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채널별 상황 요약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메시지 가이드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실행 우선순위와 사후 리포트를 제공합니다</a:t>
            </a:r>
            <a:r>
              <a:rPr lang="en-US" sz="1200" b="0" u="none" strike="noStrike">
                <a:solidFill>
                  <a:srgbClr val="5D667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사각형: 둥근 모서리 606"/>
          <p:cNvSpPr/>
          <p:nvPr/>
        </p:nvSpPr>
        <p:spPr>
          <a:xfrm>
            <a:off x="495360" y="5952960"/>
            <a:ext cx="11124720" cy="380520"/>
          </a:xfrm>
          <a:prstGeom prst="roundRect">
            <a:avLst>
              <a:gd name="adj" fmla="val 25000"/>
            </a:avLst>
          </a:prstGeom>
          <a:solidFill>
            <a:srgbClr val="0609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직사각형 607"/>
          <p:cNvSpPr/>
          <p:nvPr/>
        </p:nvSpPr>
        <p:spPr>
          <a:xfrm>
            <a:off x="743040" y="6058080"/>
            <a:ext cx="9524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GOOD PARTNER  </a:t>
            </a: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문제를 숨기지 않고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확인된 사실과 의사결정 권한을 함께 공유할 수 있는 조직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그림 608"/>
          <p:cNvPicPr/>
          <p:nvPr/>
        </p:nvPicPr>
        <p:blipFill>
          <a:blip r:embed="rId3"/>
          <a:stretch/>
        </p:blipFill>
        <p:spPr>
          <a:xfrm>
            <a:off x="10500840" y="5619600"/>
            <a:ext cx="1000800" cy="104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3227</Words>
  <Application>Microsoft Office PowerPoint</Application>
  <PresentationFormat>와이드스크린</PresentationFormat>
  <Paragraphs>370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Arial</vt:lpstr>
      <vt:lpstr>Calibri</vt:lpstr>
      <vt:lpstr>Symbol</vt:lpstr>
      <vt:lpstr>Times New Roman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EZEN</cp:lastModifiedBy>
  <cp:revision>3</cp:revision>
  <dcterms:created xsi:type="dcterms:W3CDTF">2026-07-31T03:22:21Z</dcterms:created>
  <dcterms:modified xsi:type="dcterms:W3CDTF">2026-07-31T08:04:13Z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